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bookmarkIdSeed="3">
  <p:sldMasterIdLst>
    <p:sldMasterId id="2147483648" r:id="rId1"/>
  </p:sldMasterIdLst>
  <p:notesMasterIdLst>
    <p:notesMasterId r:id="rId14"/>
  </p:notesMasterIdLst>
  <p:sldIdLst>
    <p:sldId id="256" r:id="rId2"/>
    <p:sldId id="257" r:id="rId3"/>
    <p:sldId id="258" r:id="rId4"/>
    <p:sldId id="262" r:id="rId5"/>
    <p:sldId id="263" r:id="rId6"/>
    <p:sldId id="259" r:id="rId7"/>
    <p:sldId id="268" r:id="rId8"/>
    <p:sldId id="266" r:id="rId9"/>
    <p:sldId id="260" r:id="rId10"/>
    <p:sldId id="264" r:id="rId11"/>
    <p:sldId id="265" r:id="rId12"/>
    <p:sldId id="261"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 roundtripDataSignature="AMtx7mjg+do/2jQSt6a9JYXMNctZ9eG7J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16"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 name="Google Shape;6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9540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6030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387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27" descr="LOGO.gif"/>
          <p:cNvPicPr preferRelativeResize="0"/>
          <p:nvPr/>
        </p:nvPicPr>
        <p:blipFill rotWithShape="1">
          <a:blip r:embed="rId2">
            <a:alphaModFix/>
          </a:blip>
          <a:srcRect b="10713"/>
          <a:stretch/>
        </p:blipFill>
        <p:spPr>
          <a:xfrm>
            <a:off x="8737600" y="228600"/>
            <a:ext cx="2743200" cy="635000"/>
          </a:xfrm>
          <a:prstGeom prst="rect">
            <a:avLst/>
          </a:prstGeom>
          <a:noFill/>
          <a:ln>
            <a:noFill/>
          </a:ln>
        </p:spPr>
      </p:pic>
      <p:grpSp>
        <p:nvGrpSpPr>
          <p:cNvPr id="26" name="Google Shape;26;p27"/>
          <p:cNvGrpSpPr/>
          <p:nvPr/>
        </p:nvGrpSpPr>
        <p:grpSpPr>
          <a:xfrm>
            <a:off x="8195733" y="0"/>
            <a:ext cx="3996267" cy="876300"/>
            <a:chOff x="6096000" y="3924300"/>
            <a:chExt cx="2997200" cy="876300"/>
          </a:xfrm>
        </p:grpSpPr>
        <p:sp>
          <p:nvSpPr>
            <p:cNvPr id="27" name="Google Shape;27;p27"/>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28" name="Google Shape;28;p27"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27"/>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pic>
        <p:nvPicPr>
          <p:cNvPr id="30" name="Google Shape;30;p27" descr="logo.jpg"/>
          <p:cNvPicPr preferRelativeResize="0"/>
          <p:nvPr/>
        </p:nvPicPr>
        <p:blipFill rotWithShape="1">
          <a:blip r:embed="rId3">
            <a:alphaModFix/>
          </a:blip>
          <a:srcRect/>
          <a:stretch/>
        </p:blipFill>
        <p:spPr>
          <a:xfrm>
            <a:off x="8737601" y="228600"/>
            <a:ext cx="2561167" cy="609600"/>
          </a:xfrm>
          <a:prstGeom prst="rect">
            <a:avLst/>
          </a:prstGeom>
          <a:noFill/>
          <a:ln>
            <a:noFill/>
          </a:ln>
        </p:spPr>
      </p:pic>
      <p:sp>
        <p:nvSpPr>
          <p:cNvPr id="31" name="Google Shape;31;p27"/>
          <p:cNvSpPr txBox="1">
            <a:spLocks noGrp="1"/>
          </p:cNvSpPr>
          <p:nvPr>
            <p:ph type="title"/>
          </p:nvPr>
        </p:nvSpPr>
        <p:spPr>
          <a:xfrm>
            <a:off x="0" y="0"/>
            <a:ext cx="8636000" cy="838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27"/>
          <p:cNvSpPr txBox="1">
            <a:spLocks noGrp="1"/>
          </p:cNvSpPr>
          <p:nvPr>
            <p:ph type="body" idx="1"/>
          </p:nvPr>
        </p:nvSpPr>
        <p:spPr>
          <a:xfrm>
            <a:off x="609600" y="1371601"/>
            <a:ext cx="109728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 name="Google Shape;33;p2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28"/>
          <p:cNvSpPr txBox="1">
            <a:spLocks noGrp="1"/>
          </p:cNvSpPr>
          <p:nvPr>
            <p:ph type="title"/>
          </p:nvPr>
        </p:nvSpPr>
        <p:spPr>
          <a:xfrm>
            <a:off x="0" y="0"/>
            <a:ext cx="8636000" cy="838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8" name="Google Shape;38;p2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 name="Google Shape;39;p2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0" name="Google Shape;40;p2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29"/>
          <p:cNvSpPr txBox="1">
            <a:spLocks noGrp="1"/>
          </p:cNvSpPr>
          <p:nvPr>
            <p:ph type="title"/>
          </p:nvPr>
        </p:nvSpPr>
        <p:spPr>
          <a:xfrm>
            <a:off x="0" y="0"/>
            <a:ext cx="8636000" cy="838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5" name="Google Shape;45;p2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3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3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2"/>
        <p:cNvGrpSpPr/>
        <p:nvPr/>
      </p:nvGrpSpPr>
      <p:grpSpPr>
        <a:xfrm>
          <a:off x="0" y="0"/>
          <a:ext cx="0" cy="0"/>
          <a:chOff x="0" y="0"/>
          <a:chExt cx="0" cy="0"/>
        </a:xfrm>
      </p:grpSpPr>
      <p:sp>
        <p:nvSpPr>
          <p:cNvPr id="53" name="Google Shape;53;p31"/>
          <p:cNvSpPr txBox="1">
            <a:spLocks noGrp="1"/>
          </p:cNvSpPr>
          <p:nvPr>
            <p:ph type="ctrTitle"/>
          </p:nvPr>
        </p:nvSpPr>
        <p:spPr>
          <a:xfrm>
            <a:off x="0" y="1"/>
            <a:ext cx="73152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4" name="Google Shape;54;p31"/>
          <p:cNvSpPr txBox="1">
            <a:spLocks noGrp="1"/>
          </p:cNvSpPr>
          <p:nvPr>
            <p:ph type="subTitle" idx="1"/>
          </p:nvPr>
        </p:nvSpPr>
        <p:spPr>
          <a:xfrm>
            <a:off x="711200" y="1371600"/>
            <a:ext cx="10871200" cy="47244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55" name="Google Shape;55;p3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98989"/>
                </a:solidFill>
                <a:latin typeface="Calibri"/>
                <a:ea typeface="Calibri"/>
                <a:cs typeface="Calibri"/>
                <a:sym typeface="Calibri"/>
              </a:defRPr>
            </a:lvl1pPr>
            <a:lvl2pPr marL="0" marR="0" lvl="1" indent="0" algn="r">
              <a:spcBef>
                <a:spcPts val="0"/>
              </a:spcBef>
              <a:spcAft>
                <a:spcPts val="0"/>
              </a:spcAft>
              <a:buNone/>
              <a:defRPr sz="1200">
                <a:solidFill>
                  <a:srgbClr val="898989"/>
                </a:solidFill>
                <a:latin typeface="Calibri"/>
                <a:ea typeface="Calibri"/>
                <a:cs typeface="Calibri"/>
                <a:sym typeface="Calibri"/>
              </a:defRPr>
            </a:lvl2pPr>
            <a:lvl3pPr marL="0" marR="0" lvl="2" indent="0" algn="r">
              <a:spcBef>
                <a:spcPts val="0"/>
              </a:spcBef>
              <a:spcAft>
                <a:spcPts val="0"/>
              </a:spcAft>
              <a:buNone/>
              <a:defRPr sz="1200">
                <a:solidFill>
                  <a:srgbClr val="898989"/>
                </a:solidFill>
                <a:latin typeface="Calibri"/>
                <a:ea typeface="Calibri"/>
                <a:cs typeface="Calibri"/>
                <a:sym typeface="Calibri"/>
              </a:defRPr>
            </a:lvl3pPr>
            <a:lvl4pPr marL="0" marR="0" lvl="3" indent="0" algn="r">
              <a:spcBef>
                <a:spcPts val="0"/>
              </a:spcBef>
              <a:spcAft>
                <a:spcPts val="0"/>
              </a:spcAft>
              <a:buNone/>
              <a:defRPr sz="1200">
                <a:solidFill>
                  <a:srgbClr val="898989"/>
                </a:solidFill>
                <a:latin typeface="Calibri"/>
                <a:ea typeface="Calibri"/>
                <a:cs typeface="Calibri"/>
                <a:sym typeface="Calibri"/>
              </a:defRPr>
            </a:lvl4pPr>
            <a:lvl5pPr marL="0" marR="0" lvl="4" indent="0" algn="r">
              <a:spcBef>
                <a:spcPts val="0"/>
              </a:spcBef>
              <a:spcAft>
                <a:spcPts val="0"/>
              </a:spcAft>
              <a:buNone/>
              <a:defRPr sz="1200">
                <a:solidFill>
                  <a:srgbClr val="898989"/>
                </a:solidFill>
                <a:latin typeface="Calibri"/>
                <a:ea typeface="Calibri"/>
                <a:cs typeface="Calibri"/>
                <a:sym typeface="Calibri"/>
              </a:defRPr>
            </a:lvl5pPr>
            <a:lvl6pPr marL="0" marR="0" lvl="5" indent="0" algn="r">
              <a:spcBef>
                <a:spcPts val="0"/>
              </a:spcBef>
              <a:spcAft>
                <a:spcPts val="0"/>
              </a:spcAft>
              <a:buNone/>
              <a:defRPr sz="1200">
                <a:solidFill>
                  <a:srgbClr val="898989"/>
                </a:solidFill>
                <a:latin typeface="Calibri"/>
                <a:ea typeface="Calibri"/>
                <a:cs typeface="Calibri"/>
                <a:sym typeface="Calibri"/>
              </a:defRPr>
            </a:lvl6pPr>
            <a:lvl7pPr marL="0" marR="0" lvl="6" indent="0" algn="r">
              <a:spcBef>
                <a:spcPts val="0"/>
              </a:spcBef>
              <a:spcAft>
                <a:spcPts val="0"/>
              </a:spcAft>
              <a:buNone/>
              <a:defRPr sz="1200">
                <a:solidFill>
                  <a:srgbClr val="898989"/>
                </a:solidFill>
                <a:latin typeface="Calibri"/>
                <a:ea typeface="Calibri"/>
                <a:cs typeface="Calibri"/>
                <a:sym typeface="Calibri"/>
              </a:defRPr>
            </a:lvl7pPr>
            <a:lvl8pPr marL="0" marR="0" lvl="7" indent="0" algn="r">
              <a:spcBef>
                <a:spcPts val="0"/>
              </a:spcBef>
              <a:spcAft>
                <a:spcPts val="0"/>
              </a:spcAft>
              <a:buNone/>
              <a:defRPr sz="1200">
                <a:solidFill>
                  <a:srgbClr val="898989"/>
                </a:solidFill>
                <a:latin typeface="Calibri"/>
                <a:ea typeface="Calibri"/>
                <a:cs typeface="Calibri"/>
                <a:sym typeface="Calibri"/>
              </a:defRPr>
            </a:lvl8pPr>
            <a:lvl9pPr marL="0" marR="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6"/>
          <p:cNvSpPr txBox="1">
            <a:spLocks noGrp="1"/>
          </p:cNvSpPr>
          <p:nvPr>
            <p:ph type="title"/>
          </p:nvPr>
        </p:nvSpPr>
        <p:spPr>
          <a:xfrm>
            <a:off x="0" y="0"/>
            <a:ext cx="8636000" cy="838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26"/>
          <p:cNvSpPr txBox="1">
            <a:spLocks noGrp="1"/>
          </p:cNvSpPr>
          <p:nvPr>
            <p:ph type="body" idx="1"/>
          </p:nvPr>
        </p:nvSpPr>
        <p:spPr>
          <a:xfrm>
            <a:off x="609600" y="1371601"/>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6"/>
          <p:cNvSpPr/>
          <p:nvPr/>
        </p:nvSpPr>
        <p:spPr>
          <a:xfrm>
            <a:off x="0" y="0"/>
            <a:ext cx="12192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6" name="Google Shape;16;p26"/>
          <p:cNvSpPr/>
          <p:nvPr/>
        </p:nvSpPr>
        <p:spPr>
          <a:xfrm rot="10800000" flipH="1">
            <a:off x="0" y="6705600"/>
            <a:ext cx="12192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17" name="Google Shape;17;p26" descr="LOGO.gif"/>
          <p:cNvPicPr preferRelativeResize="0"/>
          <p:nvPr/>
        </p:nvPicPr>
        <p:blipFill rotWithShape="1">
          <a:blip r:embed="rId7">
            <a:alphaModFix/>
          </a:blip>
          <a:srcRect b="10713"/>
          <a:stretch/>
        </p:blipFill>
        <p:spPr>
          <a:xfrm>
            <a:off x="8737600" y="228600"/>
            <a:ext cx="2743200" cy="635000"/>
          </a:xfrm>
          <a:prstGeom prst="rect">
            <a:avLst/>
          </a:prstGeom>
          <a:noFill/>
          <a:ln>
            <a:noFill/>
          </a:ln>
        </p:spPr>
      </p:pic>
      <p:pic>
        <p:nvPicPr>
          <p:cNvPr id="18" name="Google Shape;18;p26" descr="LOGO.gif"/>
          <p:cNvPicPr preferRelativeResize="0"/>
          <p:nvPr/>
        </p:nvPicPr>
        <p:blipFill rotWithShape="1">
          <a:blip r:embed="rId7">
            <a:alphaModFix/>
          </a:blip>
          <a:srcRect b="10713"/>
          <a:stretch/>
        </p:blipFill>
        <p:spPr>
          <a:xfrm>
            <a:off x="8737600" y="228600"/>
            <a:ext cx="2743200" cy="635000"/>
          </a:xfrm>
          <a:prstGeom prst="rect">
            <a:avLst/>
          </a:prstGeom>
          <a:noFill/>
          <a:ln>
            <a:noFill/>
          </a:ln>
        </p:spPr>
      </p:pic>
      <p:grpSp>
        <p:nvGrpSpPr>
          <p:cNvPr id="19" name="Google Shape;19;p26"/>
          <p:cNvGrpSpPr/>
          <p:nvPr/>
        </p:nvGrpSpPr>
        <p:grpSpPr>
          <a:xfrm>
            <a:off x="8195733" y="0"/>
            <a:ext cx="3996267" cy="876300"/>
            <a:chOff x="6096000" y="3924300"/>
            <a:chExt cx="2997200" cy="876300"/>
          </a:xfrm>
        </p:grpSpPr>
        <p:sp>
          <p:nvSpPr>
            <p:cNvPr id="20" name="Google Shape;20;p26"/>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21" name="Google Shape;21;p26" descr="LOGO.gif"/>
            <p:cNvPicPr preferRelativeResize="0"/>
            <p:nvPr/>
          </p:nvPicPr>
          <p:blipFill rotWithShape="1">
            <a:blip r:embed="rId7">
              <a:alphaModFix/>
            </a:blip>
            <a:srcRect b="10713"/>
            <a:stretch/>
          </p:blipFill>
          <p:spPr>
            <a:xfrm>
              <a:off x="6502400" y="4152900"/>
              <a:ext cx="2057400" cy="635000"/>
            </a:xfrm>
            <a:prstGeom prst="rect">
              <a:avLst/>
            </a:prstGeom>
            <a:noFill/>
            <a:ln>
              <a:noFill/>
            </a:ln>
          </p:spPr>
        </p:pic>
        <p:sp>
          <p:nvSpPr>
            <p:cNvPr id="22" name="Google Shape;22;p26"/>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pic>
        <p:nvPicPr>
          <p:cNvPr id="23" name="Google Shape;23;p26" descr="logo.jpg"/>
          <p:cNvPicPr preferRelativeResize="0"/>
          <p:nvPr/>
        </p:nvPicPr>
        <p:blipFill rotWithShape="1">
          <a:blip r:embed="rId8">
            <a:alphaModFix/>
          </a:blip>
          <a:srcRect/>
          <a:stretch/>
        </p:blipFill>
        <p:spPr>
          <a:xfrm>
            <a:off x="8737601" y="228600"/>
            <a:ext cx="2561167"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gif"/><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
        <p:cNvGrpSpPr/>
        <p:nvPr/>
      </p:nvGrpSpPr>
      <p:grpSpPr>
        <a:xfrm>
          <a:off x="0" y="0"/>
          <a:ext cx="0" cy="0"/>
          <a:chOff x="0" y="0"/>
          <a:chExt cx="0" cy="0"/>
        </a:xfrm>
      </p:grpSpPr>
      <p:sp>
        <p:nvSpPr>
          <p:cNvPr id="62" name="Google Shape;62;p1"/>
          <p:cNvSpPr txBox="1"/>
          <p:nvPr/>
        </p:nvSpPr>
        <p:spPr>
          <a:xfrm>
            <a:off x="2752748" y="926834"/>
            <a:ext cx="6553200" cy="1604865"/>
          </a:xfrm>
          <a:prstGeom prst="rect">
            <a:avLst/>
          </a:prstGeom>
          <a:noFill/>
          <a:ln>
            <a:noFill/>
          </a:ln>
        </p:spPr>
        <p:txBody>
          <a:bodyPr spcFirstLastPara="1" wrap="square" lIns="91425" tIns="33100" rIns="91425" bIns="45700" anchor="ctr" anchorCtr="0">
            <a:noAutofit/>
          </a:bodyPr>
          <a:lstStyle/>
          <a:p>
            <a:pPr marL="0" marR="0" lvl="0" indent="0" algn="ctr" rtl="0">
              <a:spcBef>
                <a:spcPts val="0"/>
              </a:spcBef>
              <a:spcAft>
                <a:spcPts val="0"/>
              </a:spcAft>
              <a:buNone/>
            </a:pPr>
            <a:r>
              <a:rPr lang="en-US" sz="3200" b="1" i="0" u="none" strike="noStrike" cap="none" dirty="0">
                <a:solidFill>
                  <a:srgbClr val="3A30FA"/>
                </a:solidFill>
                <a:latin typeface="Calibri"/>
                <a:ea typeface="Calibri"/>
                <a:cs typeface="Calibri"/>
                <a:sym typeface="Calibri"/>
              </a:rPr>
              <a:t>"BEYOND BOUNDARIES: UNLEASHING 6G'S TRANSFORMATIVE WAVE IN INDIA"</a:t>
            </a:r>
          </a:p>
        </p:txBody>
      </p:sp>
      <p:sp>
        <p:nvSpPr>
          <p:cNvPr id="63" name="Google Shape;63;p1"/>
          <p:cNvSpPr txBox="1"/>
          <p:nvPr/>
        </p:nvSpPr>
        <p:spPr>
          <a:xfrm>
            <a:off x="4010048" y="2531699"/>
            <a:ext cx="4038600" cy="1754286"/>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Presented</a:t>
            </a:r>
            <a:endParaRPr dirty="0"/>
          </a:p>
          <a:p>
            <a:pPr marL="0" marR="0" lvl="0" indent="0" algn="ctr"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 by</a:t>
            </a:r>
            <a:endParaRPr dirty="0"/>
          </a:p>
          <a:p>
            <a:pPr marL="0" marR="0" lvl="0" indent="0" algn="ctr" rtl="0">
              <a:lnSpc>
                <a:spcPct val="150000"/>
              </a:lnSpc>
              <a:spcBef>
                <a:spcPts val="0"/>
              </a:spcBef>
              <a:spcAft>
                <a:spcPts val="0"/>
              </a:spcAft>
              <a:buNone/>
            </a:pPr>
            <a:r>
              <a:rPr lang="en-US" sz="1800" b="1" dirty="0">
                <a:solidFill>
                  <a:srgbClr val="000000"/>
                </a:solidFill>
                <a:effectLst/>
                <a:latin typeface="Times New Roman" panose="02020603050405020304" pitchFamily="18" charset="0"/>
                <a:ea typeface="PMingLiU" panose="02020500000000000000" pitchFamily="18" charset="-120"/>
              </a:rPr>
              <a:t>Shivek S Mittal</a:t>
            </a:r>
          </a:p>
          <a:p>
            <a:pPr marL="0" marR="0" lvl="0" indent="0" algn="ctr"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Submission ID -029</a:t>
            </a:r>
            <a:endParaRPr sz="1800" b="1" i="0" u="none" strike="noStrike" cap="none" dirty="0">
              <a:solidFill>
                <a:schemeClr val="dk1"/>
              </a:solidFill>
              <a:latin typeface="Calibri"/>
              <a:ea typeface="Calibri"/>
              <a:cs typeface="Calibri"/>
              <a:sym typeface="Calibri"/>
            </a:endParaRPr>
          </a:p>
        </p:txBody>
      </p:sp>
      <p:sp>
        <p:nvSpPr>
          <p:cNvPr id="64" name="Google Shape;64;p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
        <p:nvSpPr>
          <p:cNvPr id="65" name="Google Shape;65;p1"/>
          <p:cNvSpPr txBox="1"/>
          <p:nvPr/>
        </p:nvSpPr>
        <p:spPr>
          <a:xfrm>
            <a:off x="411300" y="6093275"/>
            <a:ext cx="11324700" cy="41545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100" i="1" dirty="0">
                <a:solidFill>
                  <a:schemeClr val="dk1"/>
                </a:solidFill>
                <a:latin typeface="Calibri"/>
                <a:ea typeface="Calibri"/>
                <a:cs typeface="Calibri"/>
                <a:sym typeface="Calibri"/>
              </a:rPr>
              <a:t>(INCREASE-2024)</a:t>
            </a:r>
            <a:endParaRPr sz="2100" i="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
        <p:nvSpPr>
          <p:cNvPr id="71" name="Google Shape;71;p2"/>
          <p:cNvSpPr txBox="1"/>
          <p:nvPr/>
        </p:nvSpPr>
        <p:spPr>
          <a:xfrm>
            <a:off x="410548" y="130628"/>
            <a:ext cx="183813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dirty="0">
                <a:solidFill>
                  <a:schemeClr val="dk1"/>
                </a:solidFill>
                <a:latin typeface="Calibri"/>
                <a:ea typeface="Calibri"/>
                <a:cs typeface="Calibri"/>
                <a:sym typeface="Calibri"/>
              </a:rPr>
              <a:t>Contents</a:t>
            </a:r>
            <a:endParaRPr sz="3200" b="1" dirty="0">
              <a:solidFill>
                <a:schemeClr val="dk1"/>
              </a:solidFill>
              <a:latin typeface="Calibri"/>
              <a:ea typeface="Calibri"/>
              <a:cs typeface="Calibri"/>
              <a:sym typeface="Calibri"/>
            </a:endParaRPr>
          </a:p>
        </p:txBody>
      </p:sp>
      <p:sp>
        <p:nvSpPr>
          <p:cNvPr id="72" name="Google Shape;72;p2"/>
          <p:cNvSpPr txBox="1"/>
          <p:nvPr/>
        </p:nvSpPr>
        <p:spPr>
          <a:xfrm>
            <a:off x="418700" y="1743922"/>
            <a:ext cx="9741300" cy="364711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2000"/>
              <a:buFont typeface="Arial"/>
              <a:buChar char="•"/>
            </a:pPr>
            <a:r>
              <a:rPr lang="en-US" sz="2200" b="1" dirty="0">
                <a:solidFill>
                  <a:schemeClr val="dk1"/>
                </a:solidFill>
                <a:latin typeface="Calibri" panose="020F0502020204030204" pitchFamily="34" charset="0"/>
                <a:ea typeface="Calibri"/>
                <a:cs typeface="Calibri" panose="020F0502020204030204" pitchFamily="34" charset="0"/>
                <a:sym typeface="Calibri"/>
              </a:rPr>
              <a:t>Introduction</a:t>
            </a:r>
            <a:endParaRPr sz="2200" b="1" dirty="0">
              <a:latin typeface="Calibri" panose="020F0502020204030204" pitchFamily="34" charset="0"/>
              <a:cs typeface="Calibri" panose="020F0502020204030204" pitchFamily="34" charset="0"/>
            </a:endParaRPr>
          </a:p>
          <a:p>
            <a:pPr marL="285750" marR="0" lvl="0" indent="-285750" algn="l" rtl="0">
              <a:lnSpc>
                <a:spcPct val="150000"/>
              </a:lnSpc>
              <a:spcBef>
                <a:spcPts val="0"/>
              </a:spcBef>
              <a:spcAft>
                <a:spcPts val="0"/>
              </a:spcAft>
              <a:buClr>
                <a:schemeClr val="dk1"/>
              </a:buClr>
              <a:buSzPts val="2000"/>
              <a:buFont typeface="Arial"/>
              <a:buChar char="•"/>
            </a:pPr>
            <a:r>
              <a:rPr lang="en-US" sz="2200" b="1" dirty="0">
                <a:solidFill>
                  <a:schemeClr val="dk1"/>
                </a:solidFill>
                <a:latin typeface="Calibri" panose="020F0502020204030204" pitchFamily="34" charset="0"/>
                <a:ea typeface="Calibri"/>
                <a:cs typeface="Calibri" panose="020F0502020204030204" pitchFamily="34" charset="0"/>
                <a:sym typeface="Calibri"/>
              </a:rPr>
              <a:t>Literature  review</a:t>
            </a:r>
            <a:endParaRPr sz="2200" b="1" dirty="0">
              <a:latin typeface="Calibri" panose="020F0502020204030204" pitchFamily="34" charset="0"/>
              <a:cs typeface="Calibri" panose="020F0502020204030204" pitchFamily="34" charset="0"/>
            </a:endParaRPr>
          </a:p>
          <a:p>
            <a:pPr marL="285750" marR="0" lvl="0" indent="-285750" algn="l" rtl="0">
              <a:lnSpc>
                <a:spcPct val="150000"/>
              </a:lnSpc>
              <a:spcBef>
                <a:spcPts val="0"/>
              </a:spcBef>
              <a:spcAft>
                <a:spcPts val="0"/>
              </a:spcAft>
              <a:buClr>
                <a:schemeClr val="dk1"/>
              </a:buClr>
              <a:buSzPts val="2000"/>
              <a:buFont typeface="Arial"/>
              <a:buChar char="•"/>
            </a:pPr>
            <a:r>
              <a:rPr lang="en-US" sz="2200" b="1" dirty="0">
                <a:solidFill>
                  <a:schemeClr val="dk1"/>
                </a:solidFill>
                <a:latin typeface="Calibri" panose="020F0502020204030204" pitchFamily="34" charset="0"/>
                <a:ea typeface="Calibri"/>
                <a:cs typeface="Calibri" panose="020F0502020204030204" pitchFamily="34" charset="0"/>
                <a:sym typeface="Calibri"/>
              </a:rPr>
              <a:t>Methodology</a:t>
            </a:r>
            <a:endParaRPr sz="2200" b="1" dirty="0">
              <a:latin typeface="Calibri" panose="020F0502020204030204" pitchFamily="34" charset="0"/>
              <a:cs typeface="Calibri" panose="020F0502020204030204" pitchFamily="34" charset="0"/>
            </a:endParaRPr>
          </a:p>
          <a:p>
            <a:pPr marL="285750" marR="0" lvl="0" indent="-285750" algn="l" rtl="0">
              <a:lnSpc>
                <a:spcPct val="150000"/>
              </a:lnSpc>
              <a:spcBef>
                <a:spcPts val="0"/>
              </a:spcBef>
              <a:spcAft>
                <a:spcPts val="0"/>
              </a:spcAft>
              <a:buClr>
                <a:schemeClr val="dk1"/>
              </a:buClr>
              <a:buSzPts val="2000"/>
              <a:buFont typeface="Arial"/>
              <a:buChar char="•"/>
            </a:pPr>
            <a:r>
              <a:rPr lang="en-US" sz="2200" b="1" dirty="0">
                <a:solidFill>
                  <a:schemeClr val="dk1"/>
                </a:solidFill>
                <a:latin typeface="Calibri" panose="020F0502020204030204" pitchFamily="34" charset="0"/>
                <a:ea typeface="Calibri"/>
                <a:cs typeface="Calibri" panose="020F0502020204030204" pitchFamily="34" charset="0"/>
                <a:sym typeface="Calibri"/>
              </a:rPr>
              <a:t>Parameters and their definition </a:t>
            </a:r>
            <a:endParaRPr sz="2200" b="1" dirty="0">
              <a:latin typeface="Calibri" panose="020F0502020204030204" pitchFamily="34" charset="0"/>
              <a:cs typeface="Calibri" panose="020F0502020204030204" pitchFamily="34" charset="0"/>
            </a:endParaRPr>
          </a:p>
          <a:p>
            <a:pPr marL="285750" marR="0" lvl="0" indent="-285750" algn="l" rtl="0">
              <a:lnSpc>
                <a:spcPct val="150000"/>
              </a:lnSpc>
              <a:spcBef>
                <a:spcPts val="0"/>
              </a:spcBef>
              <a:spcAft>
                <a:spcPts val="0"/>
              </a:spcAft>
              <a:buClr>
                <a:schemeClr val="dk1"/>
              </a:buClr>
              <a:buSzPts val="2000"/>
              <a:buFont typeface="Arial"/>
              <a:buChar char="•"/>
            </a:pPr>
            <a:r>
              <a:rPr lang="en-US" sz="2200" b="1" dirty="0">
                <a:solidFill>
                  <a:schemeClr val="dk1"/>
                </a:solidFill>
                <a:latin typeface="Calibri" panose="020F0502020204030204" pitchFamily="34" charset="0"/>
                <a:ea typeface="Calibri"/>
                <a:cs typeface="Calibri" panose="020F0502020204030204" pitchFamily="34" charset="0"/>
                <a:sym typeface="Calibri"/>
              </a:rPr>
              <a:t>Discussion on Results predicted </a:t>
            </a:r>
            <a:endParaRPr sz="2200" b="1" dirty="0">
              <a:latin typeface="Calibri" panose="020F0502020204030204" pitchFamily="34" charset="0"/>
              <a:cs typeface="Calibri" panose="020F0502020204030204" pitchFamily="34" charset="0"/>
            </a:endParaRPr>
          </a:p>
          <a:p>
            <a:pPr marL="285750" marR="0" lvl="0" indent="-285750" algn="l" rtl="0">
              <a:lnSpc>
                <a:spcPct val="150000"/>
              </a:lnSpc>
              <a:spcBef>
                <a:spcPts val="0"/>
              </a:spcBef>
              <a:spcAft>
                <a:spcPts val="0"/>
              </a:spcAft>
              <a:buClr>
                <a:schemeClr val="dk1"/>
              </a:buClr>
              <a:buSzPts val="2000"/>
              <a:buFont typeface="Arial"/>
              <a:buChar char="•"/>
            </a:pPr>
            <a:r>
              <a:rPr lang="en-US" sz="2200" b="1" dirty="0">
                <a:solidFill>
                  <a:schemeClr val="dk1"/>
                </a:solidFill>
                <a:latin typeface="Calibri" panose="020F0502020204030204" pitchFamily="34" charset="0"/>
                <a:ea typeface="Calibri"/>
                <a:cs typeface="Calibri" panose="020F0502020204030204" pitchFamily="34" charset="0"/>
                <a:sym typeface="Calibri"/>
              </a:rPr>
              <a:t>conclusion </a:t>
            </a:r>
            <a:endParaRPr sz="2200" b="1" dirty="0">
              <a:latin typeface="Calibri" panose="020F0502020204030204" pitchFamily="34" charset="0"/>
              <a:cs typeface="Calibri" panose="020F0502020204030204" pitchFamily="34" charset="0"/>
            </a:endParaRPr>
          </a:p>
          <a:p>
            <a:pPr marL="285750" marR="0" lvl="0" indent="-285750" algn="l" rtl="0">
              <a:lnSpc>
                <a:spcPct val="150000"/>
              </a:lnSpc>
              <a:spcBef>
                <a:spcPts val="0"/>
              </a:spcBef>
              <a:spcAft>
                <a:spcPts val="0"/>
              </a:spcAft>
              <a:buClr>
                <a:schemeClr val="dk1"/>
              </a:buClr>
              <a:buSzPts val="2000"/>
              <a:buFont typeface="Arial"/>
              <a:buChar char="•"/>
            </a:pPr>
            <a:r>
              <a:rPr lang="en-US" sz="2200" b="1" dirty="0">
                <a:solidFill>
                  <a:schemeClr val="dk1"/>
                </a:solidFill>
                <a:latin typeface="Calibri" panose="020F0502020204030204" pitchFamily="34" charset="0"/>
                <a:ea typeface="Calibri"/>
                <a:cs typeface="Calibri" panose="020F0502020204030204" pitchFamily="34" charset="0"/>
                <a:sym typeface="Calibri"/>
              </a:rPr>
              <a:t>References</a:t>
            </a:r>
            <a:endParaRPr sz="2200" b="1" dirty="0">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6"/>
        <p:cNvGrpSpPr/>
        <p:nvPr/>
      </p:nvGrpSpPr>
      <p:grpSpPr>
        <a:xfrm>
          <a:off x="0" y="0"/>
          <a:ext cx="0" cy="0"/>
          <a:chOff x="0" y="0"/>
          <a:chExt cx="0" cy="0"/>
        </a:xfrm>
      </p:grpSpPr>
      <p:sp>
        <p:nvSpPr>
          <p:cNvPr id="77" name="Google Shape;77;p3"/>
          <p:cNvSpPr txBox="1">
            <a:spLocks noGrp="1"/>
          </p:cNvSpPr>
          <p:nvPr>
            <p:ph type="title"/>
          </p:nvPr>
        </p:nvSpPr>
        <p:spPr>
          <a:xfrm>
            <a:off x="288783" y="108705"/>
            <a:ext cx="2874294" cy="63914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200" b="1" dirty="0"/>
              <a:t>Introduction</a:t>
            </a:r>
            <a:endParaRPr sz="3200" b="1" dirty="0"/>
          </a:p>
        </p:txBody>
      </p:sp>
      <p:sp>
        <p:nvSpPr>
          <p:cNvPr id="7" name="TextBox 6">
            <a:extLst>
              <a:ext uri="{FF2B5EF4-FFF2-40B4-BE49-F238E27FC236}">
                <a16:creationId xmlns:a16="http://schemas.microsoft.com/office/drawing/2014/main" id="{9527148B-B54E-D662-96C0-4F7D21343335}"/>
              </a:ext>
            </a:extLst>
          </p:cNvPr>
          <p:cNvSpPr txBox="1"/>
          <p:nvPr/>
        </p:nvSpPr>
        <p:spPr>
          <a:xfrm>
            <a:off x="0" y="747852"/>
            <a:ext cx="12192000" cy="4801314"/>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In this technology-dominated world, the progress of wireless communication has indeed played an important role in shaping today’s world. To enable people experience the transformative benefits that 6G technology will bring to India; paving way for cross-border connectivity and innovative opportunity in traditional systems space. From 1G through to 5G: Journey; Exponential increases in speed, latency and connectivity However, as we are now entering the era of 6G, discourse is shifting from alterations to changes that would redefine wireless communication itself .The sixth generation is not just about velocity: It means a system beyond terahertz frequency, machine intelligence and holographic communications indicating indeterminate future of connectedness. No doubt, in a country as vast and diverse as India, the need for being ahead of others in telecommunications cannot be overemphasized .The road towards 6G is vital in tackling the unique problems and prospects of India’s technological odyssey. Nevertheless, this technology would have a profound impact on every Indian citizen from city dwellers to farmers living in remote areas .However, by connecting all devices at all times through wireless connections that are even faster than we can imagine, it will open up new vistas for humanity. How does the digital world look like in 6G era? This chapter seeks to explore the potential of 6G to change our perception of digital experiences ranging from augmented reality encounters to advanced machine applications. For instance, with smart cities and industry four coming into play across India, one would not underestimate the necessity of connectivity provided by 6G to foster advancements across different sectors There is also an outline about how various aspects of Indian society may be reinvented using the expected applications of sixth generation network .Whether it's revolutionizing healthcare delivery, enhancing agricultural practices, or catalyzing economic growth through the Internet of Things (IoT), the versatility of 6G positions it as a cornerstone for addressing the evolving needs of a rapidly advancing nation.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88AFB5D-F7A5-C61A-367B-23DECDBBFD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sp>
        <p:nvSpPr>
          <p:cNvPr id="4" name="Google Shape;89;p23">
            <a:extLst>
              <a:ext uri="{FF2B5EF4-FFF2-40B4-BE49-F238E27FC236}">
                <a16:creationId xmlns:a16="http://schemas.microsoft.com/office/drawing/2014/main" id="{2BECD660-6DCC-CE32-A3D0-153E277D13BE}"/>
              </a:ext>
            </a:extLst>
          </p:cNvPr>
          <p:cNvSpPr txBox="1"/>
          <p:nvPr/>
        </p:nvSpPr>
        <p:spPr>
          <a:xfrm>
            <a:off x="170000" y="138900"/>
            <a:ext cx="65688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Calibri"/>
                <a:ea typeface="Calibri"/>
                <a:cs typeface="Calibri"/>
                <a:sym typeface="Calibri"/>
              </a:rPr>
              <a:t>LITERATURE REVIEW</a:t>
            </a:r>
            <a:endParaRPr sz="3200" b="1" dirty="0">
              <a:solidFill>
                <a:schemeClr val="dk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1BB7F453-4857-0349-A55C-AF00E2D23E66}"/>
              </a:ext>
            </a:extLst>
          </p:cNvPr>
          <p:cNvSpPr>
            <a:spLocks noChangeArrowheads="1"/>
          </p:cNvSpPr>
          <p:nvPr/>
        </p:nvSpPr>
        <p:spPr bwMode="auto">
          <a:xfrm>
            <a:off x="-74428" y="1230402"/>
            <a:ext cx="1204668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Understanding the Need for 6G Technology</a:t>
            </a:r>
            <a:endParaRPr lang="en-US" altLang="en-US" sz="1800" dirty="0">
              <a:ea typeface="PMingLiU" panose="02020500000000000000" pitchFamily="18" charset="-120"/>
            </a:endParaRPr>
          </a:p>
          <a:p>
            <a:pPr marL="446088"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As each new generation of telecommunication evolves, there are transformative breakthroughs . Although we are embracing 5G’s innovations today, 6G is already lurking on the horizon. Understanding what 6G technology needs necessitates a more subtle examination of the growing demand for an interdependent world as a whole . Apart from speed and connectivity, 6G imagines an era where never-before experienced levels of data exchange, ultra-low latency and novel applications will merge to redefine what is technologically possible. This dive into the world of 6G demands that we understand how changing connectivity and future developments in society or industry will shape our lives in yet unexplored patterns. Some major reasons why there is high demand for it are as follows.</a:t>
            </a:r>
            <a:endParaRPr lang="en-US" altLang="en-US" sz="1800" dirty="0">
              <a:ea typeface="PMingLiU" panose="02020500000000000000" pitchFamily="18" charset="-120"/>
            </a:endParaRPr>
          </a:p>
          <a:p>
            <a:pPr marL="446088"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Technological Advancements:</a:t>
            </a:r>
            <a:endParaRPr kumimoji="0" lang="en-US" altLang="en-US" sz="1800" b="0" i="0" u="none" strike="noStrike" cap="none" normalizeH="0" baseline="0" dirty="0">
              <a:ln>
                <a:noFill/>
              </a:ln>
              <a:solidFill>
                <a:schemeClr val="tx1"/>
              </a:solidFill>
              <a:effectLst/>
            </a:endParaRPr>
          </a:p>
          <a:p>
            <a:pPr marL="0" marR="0" lvl="0" indent="45720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Edge Computing Imperative: </a:t>
            </a:r>
            <a:endParaRPr kumimoji="0" lang="en-US" altLang="en-US" sz="1800" b="0" i="0" u="none" strike="noStrike" cap="none" normalizeH="0" baseline="0" dirty="0">
              <a:ln>
                <a:noFill/>
              </a:ln>
              <a:solidFill>
                <a:schemeClr val="tx1"/>
              </a:solidFill>
              <a:effectLst/>
            </a:endParaRPr>
          </a:p>
          <a:p>
            <a:pPr marL="0" marR="0" lvl="0" indent="45720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Internet of Things (IoT) Support:</a:t>
            </a:r>
            <a:endParaRPr kumimoji="0" lang="en-US" altLang="en-US" sz="1800" b="0" i="0" u="none" strike="noStrike" cap="none" normalizeH="0" baseline="0" dirty="0">
              <a:ln>
                <a:noFill/>
              </a:ln>
              <a:solidFill>
                <a:schemeClr val="tx1"/>
              </a:solidFill>
              <a:effectLst/>
            </a:endParaRPr>
          </a:p>
          <a:p>
            <a:pPr marL="0" marR="0" lvl="0" indent="45720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High Performance Computing (HPC) Nexus:</a:t>
            </a:r>
            <a:endParaRPr kumimoji="0" lang="en-US" altLang="en-US" sz="1800" b="0" i="0" u="none" strike="noStrike" cap="none" normalizeH="0" baseline="0" dirty="0">
              <a:ln>
                <a:noFill/>
              </a:ln>
              <a:solidFill>
                <a:schemeClr val="tx1"/>
              </a:solidFill>
              <a:effectLst/>
            </a:endParaRPr>
          </a:p>
          <a:p>
            <a:pPr marL="0" marR="0" lvl="0" indent="45720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Key Players in 6G Development: </a:t>
            </a:r>
            <a:endParaRPr kumimoji="0" lang="en-US" altLang="en-US" sz="1800" b="0" i="0" u="none" strike="noStrike" cap="none" normalizeH="0" baseline="0" dirty="0">
              <a:ln>
                <a:noFill/>
              </a:ln>
              <a:solidFill>
                <a:schemeClr val="tx1"/>
              </a:solidFill>
              <a:effectLst/>
            </a:endParaRPr>
          </a:p>
          <a:p>
            <a:pPr marL="0" marR="0" lvl="0" indent="45720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Global Research Initiatives: </a:t>
            </a:r>
            <a:endParaRPr kumimoji="0" lang="en-US" altLang="en-US" sz="1800" b="0" i="0" u="none" strike="noStrike" cap="none" normalizeH="0" baseline="0" dirty="0">
              <a:ln>
                <a:noFill/>
              </a:ln>
              <a:solidFill>
                <a:schemeClr val="tx1"/>
              </a:solidFill>
              <a:effectLst/>
            </a:endParaRPr>
          </a:p>
          <a:p>
            <a:pPr marL="0" marR="0" lvl="0" indent="45720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Country-Specific Involvement: </a:t>
            </a:r>
            <a:endParaRPr kumimoji="0" lang="en-US" altLang="en-US" sz="1800" b="0" i="0" u="none" strike="noStrike" cap="none" normalizeH="0" baseline="0" dirty="0">
              <a:ln>
                <a:noFill/>
              </a:ln>
              <a:solidFill>
                <a:schemeClr val="tx1"/>
              </a:solidFill>
              <a:effectLst/>
            </a:endParaRPr>
          </a:p>
          <a:p>
            <a:pPr marL="0" marR="0" lvl="0" indent="45720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Hexa-X and Global Collaboration:</a:t>
            </a:r>
            <a:endParaRPr kumimoji="0" lang="en-US" altLang="en-US" sz="1800" b="0" i="0" u="none" strike="noStrike" cap="none" normalizeH="0" baseline="0" dirty="0">
              <a:ln>
                <a:noFill/>
              </a:ln>
              <a:solidFill>
                <a:schemeClr val="tx1"/>
              </a:solidFill>
              <a:effectLst/>
            </a:endParaRPr>
          </a:p>
          <a:p>
            <a:pPr marL="0" marR="0" lvl="0" indent="45720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Academic Contributions: </a:t>
            </a:r>
            <a:endParaRPr kumimoji="0" lang="en-US" altLang="en-US" sz="1800" b="0" i="0" u="none" strike="noStrike" cap="none" normalizeH="0" baseline="0" dirty="0">
              <a:ln>
                <a:noFill/>
              </a:ln>
              <a:solidFill>
                <a:schemeClr val="tx1"/>
              </a:solidFill>
              <a:effectLst/>
            </a:endParaRPr>
          </a:p>
        </p:txBody>
      </p:sp>
      <p:pic>
        <p:nvPicPr>
          <p:cNvPr id="5" name="Picture 4">
            <a:extLst>
              <a:ext uri="{FF2B5EF4-FFF2-40B4-BE49-F238E27FC236}">
                <a16:creationId xmlns:a16="http://schemas.microsoft.com/office/drawing/2014/main" id="{3F151E71-9039-F1BB-7BB3-FCC263F10602}"/>
              </a:ext>
            </a:extLst>
          </p:cNvPr>
          <p:cNvPicPr>
            <a:picLocks noChangeAspect="1"/>
          </p:cNvPicPr>
          <p:nvPr/>
        </p:nvPicPr>
        <p:blipFill>
          <a:blip r:embed="rId2"/>
          <a:stretch>
            <a:fillRect/>
          </a:stretch>
        </p:blipFill>
        <p:spPr>
          <a:xfrm>
            <a:off x="7313096" y="3429000"/>
            <a:ext cx="4063742" cy="2341547"/>
          </a:xfrm>
          <a:prstGeom prst="rect">
            <a:avLst/>
          </a:prstGeom>
        </p:spPr>
      </p:pic>
      <p:sp>
        <p:nvSpPr>
          <p:cNvPr id="6" name="TextBox 5">
            <a:extLst>
              <a:ext uri="{FF2B5EF4-FFF2-40B4-BE49-F238E27FC236}">
                <a16:creationId xmlns:a16="http://schemas.microsoft.com/office/drawing/2014/main" id="{F78B4D9B-8896-3916-0783-85287EE871D1}"/>
              </a:ext>
            </a:extLst>
          </p:cNvPr>
          <p:cNvSpPr txBox="1"/>
          <p:nvPr/>
        </p:nvSpPr>
        <p:spPr>
          <a:xfrm>
            <a:off x="7808328" y="5770547"/>
            <a:ext cx="3073277" cy="307777"/>
          </a:xfrm>
          <a:prstGeom prst="rect">
            <a:avLst/>
          </a:prstGeom>
          <a:noFill/>
        </p:spPr>
        <p:txBody>
          <a:bodyPr wrap="none" rtlCol="0">
            <a:spAutoFit/>
          </a:bodyPr>
          <a:lstStyle/>
          <a:p>
            <a:r>
              <a:rPr lang="en-US" dirty="0"/>
              <a:t>Fig :How does a NETWORK Shared</a:t>
            </a:r>
            <a:endParaRPr lang="en-IN" dirty="0"/>
          </a:p>
        </p:txBody>
      </p:sp>
    </p:spTree>
    <p:extLst>
      <p:ext uri="{BB962C8B-B14F-4D97-AF65-F5344CB8AC3E}">
        <p14:creationId xmlns:p14="http://schemas.microsoft.com/office/powerpoint/2010/main" val="2115535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88AFB5D-F7A5-C61A-367B-23DECDBBFD85}"/>
              </a:ext>
            </a:extLst>
          </p:cNvPr>
          <p:cNvSpPr>
            <a:spLocks noGrp="1"/>
          </p:cNvSpPr>
          <p:nvPr>
            <p:ph type="sldNum" idx="12"/>
          </p:nvPr>
        </p:nvSpPr>
        <p:spPr/>
        <p:txBody>
          <a:bodyPr/>
          <a:lstStyle/>
          <a:p>
            <a:pPr marL="0" lvl="0" indent="0" algn="just" rtl="0">
              <a:spcBef>
                <a:spcPts val="0"/>
              </a:spcBef>
              <a:spcAft>
                <a:spcPts val="0"/>
              </a:spcAft>
              <a:buNone/>
            </a:pPr>
            <a:fld id="{00000000-1234-1234-1234-123412341234}" type="slidenum">
              <a:rPr lang="en-US" smtClean="0"/>
              <a:pPr marL="0" lvl="0" indent="0" algn="just" rtl="0">
                <a:spcBef>
                  <a:spcPts val="0"/>
                </a:spcBef>
                <a:spcAft>
                  <a:spcPts val="0"/>
                </a:spcAft>
                <a:buNone/>
              </a:pPr>
              <a:t>5</a:t>
            </a:fld>
            <a:endParaRPr lang="en-US"/>
          </a:p>
        </p:txBody>
      </p:sp>
      <p:sp>
        <p:nvSpPr>
          <p:cNvPr id="4" name="Google Shape;89;p23">
            <a:extLst>
              <a:ext uri="{FF2B5EF4-FFF2-40B4-BE49-F238E27FC236}">
                <a16:creationId xmlns:a16="http://schemas.microsoft.com/office/drawing/2014/main" id="{2BECD660-6DCC-CE32-A3D0-153E277D13BE}"/>
              </a:ext>
            </a:extLst>
          </p:cNvPr>
          <p:cNvSpPr txBox="1"/>
          <p:nvPr/>
        </p:nvSpPr>
        <p:spPr>
          <a:xfrm>
            <a:off x="170000" y="138900"/>
            <a:ext cx="6568800" cy="5850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200" b="1" dirty="0">
                <a:solidFill>
                  <a:schemeClr val="dk1"/>
                </a:solidFill>
                <a:latin typeface="Calibri"/>
                <a:ea typeface="Calibri"/>
                <a:cs typeface="Calibri"/>
                <a:sym typeface="Calibri"/>
              </a:rPr>
              <a:t>LITERATURE REVIEW</a:t>
            </a:r>
            <a:endParaRPr sz="3200" b="1" dirty="0">
              <a:solidFill>
                <a:schemeClr val="dk1"/>
              </a:solidFill>
              <a:latin typeface="Calibri"/>
              <a:ea typeface="Calibri"/>
              <a:cs typeface="Calibri"/>
              <a:sym typeface="Calibri"/>
            </a:endParaRPr>
          </a:p>
        </p:txBody>
      </p:sp>
      <p:sp>
        <p:nvSpPr>
          <p:cNvPr id="5" name="Rectangle 1">
            <a:extLst>
              <a:ext uri="{FF2B5EF4-FFF2-40B4-BE49-F238E27FC236}">
                <a16:creationId xmlns:a16="http://schemas.microsoft.com/office/drawing/2014/main" id="{4275C359-1C60-2E96-9812-80D1057D35B3}"/>
              </a:ext>
            </a:extLst>
          </p:cNvPr>
          <p:cNvSpPr>
            <a:spLocks noChangeArrowheads="1"/>
          </p:cNvSpPr>
          <p:nvPr/>
        </p:nvSpPr>
        <p:spPr bwMode="auto">
          <a:xfrm>
            <a:off x="0" y="908706"/>
            <a:ext cx="12116343"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Now since we have discussed about the advance feature of 6G so let move towards the problem faced due to the current network:</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India being the second largest country with 496.50 million subscribers of mobile network had to face a large number of problems due to bad network bandwidth One of the major issues facing the Internet segment in India is the lower average bandwidth of broadband connections compared to that of developed countries.</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(src: https://en.wikipedia.org/wiki/List_of_mobile_network_operators)</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The basic problem that we discussed here that are faced due to current network in India are:</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Education sector</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Hospitals</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Financial sector</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Defence</a:t>
            </a: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sector</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Navigating Educational Challenges in India's Network Infrastructure: A Glimpse into the Potential Role of 6G </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India's education system has completely changed with digital technologies. During covid crises all school and colleges were closed due to lockdown and were facing issues in online classes due to network infrastructure which puts the quality and access to education at stake. The most common problem faced by students during these time were:</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The limited connectivity of rural areas:</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Students in rural area were facing a main problem due to less reach of network in those area As a result, this makes it difficult for students living in far flung locations to benefit from online educational resources and interactive learning experiences.</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Internet Bandwidth Limitation and Unreliable Connectivity: </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In urban area the networks lagging and low speed of wi-fi resulting in the problem for online classes such as lagging of video during online classes or joining or rejoining of internet .</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Discriminatory Access to Educational Resources:</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However, this leads to uneven opportunities for people belonging from different social-economic background since unprivileged ones lack equal chances of getting a good quality of education compared to their privileged counterparts who work under more advanced conditions </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The Potential of 6G in Mitigating Educational Challenges: </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Ultra-Reliable Low Latency Communication (URLLC): </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6G technology is expected to provide ultra-reliable low latency communication, ensuring seamless connectivity even in remote areas. This can significantly enhance the delivery of real-time interactive educational content and bridge the digital divide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High Bandwidth and Enhanced Data Rates: </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The increased bandwidth and data rates offered by 6G can address the current limitations, allowing for high-quality video streaming, virtual reality (VR) experiences, and other data-intensive educational applications .</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Integration of Artificial Intelligence (AI) in Education: </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6G's support for AI applications can revolutionize personalized learning experiences, adaptive assessments, and intelligent tutoring systems, catering to the diverse learning needs of students [V]</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2EC97711-EE16-71E7-393C-10F2F8A44A84}"/>
              </a:ext>
            </a:extLst>
          </p:cNvPr>
          <p:cNvPicPr>
            <a:picLocks noChangeAspect="1"/>
          </p:cNvPicPr>
          <p:nvPr/>
        </p:nvPicPr>
        <p:blipFill>
          <a:blip r:embed="rId2"/>
          <a:stretch>
            <a:fillRect/>
          </a:stretch>
        </p:blipFill>
        <p:spPr>
          <a:xfrm>
            <a:off x="9781953" y="1474049"/>
            <a:ext cx="1800447" cy="1195609"/>
          </a:xfrm>
          <a:prstGeom prst="rect">
            <a:avLst/>
          </a:prstGeom>
        </p:spPr>
      </p:pic>
    </p:spTree>
    <p:extLst>
      <p:ext uri="{BB962C8B-B14F-4D97-AF65-F5344CB8AC3E}">
        <p14:creationId xmlns:p14="http://schemas.microsoft.com/office/powerpoint/2010/main" val="4213288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89" name="Google Shape;89;p23"/>
          <p:cNvSpPr txBox="1"/>
          <p:nvPr/>
        </p:nvSpPr>
        <p:spPr>
          <a:xfrm>
            <a:off x="279917" y="151236"/>
            <a:ext cx="65688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Calibri"/>
                <a:ea typeface="Calibri"/>
                <a:cs typeface="Calibri"/>
                <a:sym typeface="Calibri"/>
              </a:rPr>
              <a:t>Conclusion</a:t>
            </a:r>
            <a:endParaRPr sz="3200" b="1" dirty="0">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0DF4AFCC-8BF0-A7D7-F4BD-BBD711BB8140}"/>
              </a:ext>
            </a:extLst>
          </p:cNvPr>
          <p:cNvSpPr txBox="1"/>
          <p:nvPr/>
        </p:nvSpPr>
        <p:spPr>
          <a:xfrm>
            <a:off x="0" y="891808"/>
            <a:ext cx="11940363" cy="5355312"/>
          </a:xfrm>
          <a:prstGeom prst="rect">
            <a:avLst/>
          </a:prstGeom>
          <a:noFill/>
        </p:spPr>
        <p:txBody>
          <a:bodyPr wrap="square">
            <a:spAutoFit/>
          </a:bodyPr>
          <a:lstStyle/>
          <a:p>
            <a:pPr marL="180340" algn="just"/>
            <a:r>
              <a:rPr lang="en-US" sz="1800" dirty="0">
                <a:effectLst/>
                <a:latin typeface="Times New Roman" panose="02020603050405020304" pitchFamily="18" charset="0"/>
                <a:ea typeface="PMingLiU" panose="02020500000000000000" pitchFamily="18" charset="-120"/>
              </a:rPr>
              <a:t>BEYOND BOUNDARIES: Revealing the Transformative Wave of 6G. Our country is moving forward at a rapid pace, but we must keep up with it by developing our technology and networks. As India eagerly prepares to embrace this next generation of wireless technology, the path forward lies in delicately navigating through infrastructure development intricacies, regulatory frameworks and international collaborations In this unfolding narrative, strategic partnerships and a holistic approach become the guiding threads, presenting India with a unique opportunity to harness 6G This new network can unlock for our country fresh dimensions of innovation. Give our country wings that can propel the country into a digitally advanced future. There are many pieces required to make this happen which include components , hardware , protocols and standards that work together in order to have seamless communication between different devices. Understanding what makes up a network has become an essential ingredient given that connectivity and data exchange have become our vital systems in everyday life for survival in digital age Basically what we do primarily shows how does a network work? What should one understand about networking? The understanding reveals how to create simply 6G based network. What is better about 6G compared to other networks. Then we come across the problem faced by people in India with current network structure. We discuss here Four main problem (healthcare , education, finance and </a:t>
            </a:r>
            <a:r>
              <a:rPr lang="en-US" sz="1800" dirty="0" err="1">
                <a:effectLst/>
                <a:latin typeface="Times New Roman" panose="02020603050405020304" pitchFamily="18" charset="0"/>
                <a:ea typeface="PMingLiU" panose="02020500000000000000" pitchFamily="18" charset="-120"/>
              </a:rPr>
              <a:t>defence</a:t>
            </a:r>
            <a:r>
              <a:rPr lang="en-US" sz="1800" dirty="0">
                <a:effectLst/>
                <a:latin typeface="Times New Roman" panose="02020603050405020304" pitchFamily="18" charset="0"/>
                <a:ea typeface="PMingLiU" panose="02020500000000000000" pitchFamily="18" charset="-120"/>
              </a:rPr>
              <a:t> sector ) and try to gave possible solution for it . Our paper additionally offers a technology-driven approach to resolve the issue or alter the traditional mode of attendance in Indian subcontinent schools and colleges. It can also save the time of attendance and also make sure that proxy of student can’t occur.</a:t>
            </a:r>
          </a:p>
          <a:p>
            <a:pPr marL="180340" algn="just"/>
            <a:r>
              <a:rPr lang="en-US" sz="1800" dirty="0">
                <a:latin typeface="Times New Roman" panose="02020603050405020304" pitchFamily="18" charset="0"/>
                <a:ea typeface="PMingLiU" panose="02020500000000000000" pitchFamily="18" charset="-120"/>
              </a:rPr>
              <a:t>Our paper was divided into 2 segments </a:t>
            </a:r>
          </a:p>
          <a:p>
            <a:pPr marL="523240" indent="-342900" algn="just">
              <a:buAutoNum type="arabicParenR"/>
            </a:pPr>
            <a:r>
              <a:rPr lang="en-US" sz="1800" dirty="0">
                <a:latin typeface="Times New Roman" panose="02020603050405020304" pitchFamily="18" charset="0"/>
                <a:ea typeface="PMingLiU" panose="02020500000000000000" pitchFamily="18" charset="-120"/>
              </a:rPr>
              <a:t>Survey paper</a:t>
            </a:r>
          </a:p>
          <a:p>
            <a:pPr marL="523240" indent="-342900" algn="just">
              <a:buAutoNum type="arabicParenR"/>
            </a:pPr>
            <a:r>
              <a:rPr lang="en-US" sz="1800" dirty="0">
                <a:latin typeface="Times New Roman" panose="02020603050405020304" pitchFamily="18" charset="0"/>
                <a:ea typeface="PMingLiU" panose="02020500000000000000" pitchFamily="18" charset="-120"/>
              </a:rPr>
              <a:t>Solutions to a problem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89" name="Google Shape;89;p23"/>
          <p:cNvSpPr txBox="1"/>
          <p:nvPr/>
        </p:nvSpPr>
        <p:spPr>
          <a:xfrm>
            <a:off x="279917" y="151236"/>
            <a:ext cx="65688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Calibri"/>
                <a:ea typeface="Calibri"/>
                <a:cs typeface="Calibri"/>
                <a:sym typeface="Calibri"/>
              </a:rPr>
              <a:t>SURVEY </a:t>
            </a:r>
            <a:endParaRPr sz="3200" b="1" dirty="0">
              <a:solidFill>
                <a:schemeClr val="dk1"/>
              </a:solidFill>
              <a:latin typeface="Calibri"/>
              <a:ea typeface="Calibri"/>
              <a:cs typeface="Calibri"/>
              <a:sym typeface="Calibri"/>
            </a:endParaRPr>
          </a:p>
        </p:txBody>
      </p:sp>
      <p:pic>
        <p:nvPicPr>
          <p:cNvPr id="2051" name="Picture 1" descr="Forms response chart. Question title: ARE YOU SATISFIED WITH THE SPEED OF NETWORK YOU ARE USING. Number of responses: 86 responses.">
            <a:extLst>
              <a:ext uri="{FF2B5EF4-FFF2-40B4-BE49-F238E27FC236}">
                <a16:creationId xmlns:a16="http://schemas.microsoft.com/office/drawing/2014/main" id="{EA6BF0E9-D016-CA99-44BF-E5DFD29D82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438" t="22775" r="16943" b="4147"/>
          <a:stretch>
            <a:fillRect/>
          </a:stretch>
        </p:blipFill>
        <p:spPr bwMode="auto">
          <a:xfrm>
            <a:off x="8343900" y="3852900"/>
            <a:ext cx="323850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rms response chart. Question title: Are 4G/5G packets sent on a regular time independently from the uplink ?&#10;. Number of responses: 86 responses.">
            <a:extLst>
              <a:ext uri="{FF2B5EF4-FFF2-40B4-BE49-F238E27FC236}">
                <a16:creationId xmlns:a16="http://schemas.microsoft.com/office/drawing/2014/main" id="{1FBB477B-7A95-B334-BAE8-A31E715739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9965" t="19781" r="21191" b="11122"/>
          <a:stretch>
            <a:fillRect/>
          </a:stretch>
        </p:blipFill>
        <p:spPr bwMode="auto">
          <a:xfrm>
            <a:off x="141915" y="3595730"/>
            <a:ext cx="3536950" cy="1746250"/>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3" descr="Forms response chart. Question title: IS THERE ANY LAGGING OF NET. Number of responses: 86 responses.">
            <a:extLst>
              <a:ext uri="{FF2B5EF4-FFF2-40B4-BE49-F238E27FC236}">
                <a16:creationId xmlns:a16="http://schemas.microsoft.com/office/drawing/2014/main" id="{F60CA081-9033-8FB0-F8FA-BFD4734B36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8401" t="22330" r="27557" b="5251"/>
          <a:stretch>
            <a:fillRect/>
          </a:stretch>
        </p:blipFill>
        <p:spPr bwMode="auto">
          <a:xfrm>
            <a:off x="4257232" y="4018000"/>
            <a:ext cx="2470150" cy="1397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4">
            <a:extLst>
              <a:ext uri="{FF2B5EF4-FFF2-40B4-BE49-F238E27FC236}">
                <a16:creationId xmlns:a16="http://schemas.microsoft.com/office/drawing/2014/main" id="{C5594A07-ED89-2224-06CE-31B40D00C93E}"/>
              </a:ext>
            </a:extLst>
          </p:cNvPr>
          <p:cNvSpPr>
            <a:spLocks noChangeArrowheads="1"/>
          </p:cNvSpPr>
          <p:nvPr/>
        </p:nvSpPr>
        <p:spPr bwMode="auto">
          <a:xfrm>
            <a:off x="6911067" y="1703311"/>
            <a:ext cx="219932"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5">
            <a:extLst>
              <a:ext uri="{FF2B5EF4-FFF2-40B4-BE49-F238E27FC236}">
                <a16:creationId xmlns:a16="http://schemas.microsoft.com/office/drawing/2014/main" id="{F3206021-B2D5-E4EF-261C-316BA0FEAAFE}"/>
              </a:ext>
            </a:extLst>
          </p:cNvPr>
          <p:cNvSpPr>
            <a:spLocks noChangeArrowheads="1"/>
          </p:cNvSpPr>
          <p:nvPr/>
        </p:nvSpPr>
        <p:spPr bwMode="auto">
          <a:xfrm>
            <a:off x="1106008" y="344015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B3A47D33-7973-5136-9A46-20BEB75CFABD}"/>
              </a:ext>
            </a:extLst>
          </p:cNvPr>
          <p:cNvSpPr txBox="1"/>
          <p:nvPr/>
        </p:nvSpPr>
        <p:spPr>
          <a:xfrm>
            <a:off x="0" y="845054"/>
            <a:ext cx="7357730" cy="2677656"/>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Q1) are they satisfied with the speed of network they are using.</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Q2) are 4g/5g packets sent on a regular time independently from the uplink?</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Q3) how much time does </a:t>
            </a:r>
            <a:r>
              <a:rPr kumimoji="0" lang="en-US" altLang="en-US"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thier</a:t>
            </a: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net takes to download a file of 5-10 mb?</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Q4) is there any lagging of net?</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Q5)</a:t>
            </a:r>
            <a:r>
              <a:rPr kumimoji="0" lang="en-US" altLang="en-US" b="0" i="0" u="none" strike="noStrike" cap="none" normalizeH="0" baseline="0" dirty="0">
                <a:ln>
                  <a:noFill/>
                </a:ln>
                <a:solidFill>
                  <a:srgbClr val="202124"/>
                </a:solidFill>
                <a:effectLst/>
                <a:latin typeface="Times New Roman" panose="02020603050405020304" pitchFamily="18" charset="0"/>
                <a:ea typeface="Calibri" panose="020F0502020204030204" pitchFamily="34" charset="0"/>
                <a:cs typeface="Times New Roman" panose="02020603050405020304" pitchFamily="18" charset="0"/>
              </a:rPr>
              <a:t> which network company does they use ?</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Q6) in what ways has the network technology (4g, 5g) influenced </a:t>
            </a:r>
            <a:r>
              <a:rPr kumimoji="0" lang="en-US" altLang="en-US"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thier</a:t>
            </a: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usage of specific applications or services?</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a:t>
            </a:r>
            <a:r>
              <a:rPr kumimoji="0" lang="en-US" altLang="en-US" b="0" i="0" u="none" strike="noStrike" cap="none" normalizeH="0" baseline="0" dirty="0" bmk="">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7) in what ways can 6g be used to develop </a:t>
            </a:r>
            <a:r>
              <a:rPr kumimoji="0" lang="en-US" altLang="en-US" b="0" i="0" u="none" strike="noStrike" cap="none" normalizeH="0" baseline="0" dirty="0" err="1" bmk="">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defence</a:t>
            </a:r>
            <a:r>
              <a:rPr kumimoji="0" lang="en-US" altLang="en-US" b="0" i="0" u="none" strike="noStrike" cap="none" normalizeH="0" baseline="0" dirty="0" bmk="">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sector?</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Q8) in what ways can 6g be used to develop education sector?</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Q9) in what ways can 6g be used to develop health sector?</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Q10) in what ways can 6g be used to develop finance sector? </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Output of the survey conducted (answers of few questions”) </a:t>
            </a:r>
            <a:endParaRPr kumimoji="0" lang="en-US" altLang="en-US" b="0" i="0" u="none" strike="noStrike" cap="none" normalizeH="0" baseline="0" dirty="0">
              <a:ln>
                <a:noFill/>
              </a:ln>
              <a:solidFill>
                <a:schemeClr val="tx1"/>
              </a:solidFill>
              <a:effectLst/>
            </a:endParaRPr>
          </a:p>
        </p:txBody>
      </p:sp>
      <p:sp>
        <p:nvSpPr>
          <p:cNvPr id="10" name="TextBox 9">
            <a:extLst>
              <a:ext uri="{FF2B5EF4-FFF2-40B4-BE49-F238E27FC236}">
                <a16:creationId xmlns:a16="http://schemas.microsoft.com/office/drawing/2014/main" id="{6BC4C2B3-ECA8-E8D4-800F-EA9AF227738E}"/>
              </a:ext>
            </a:extLst>
          </p:cNvPr>
          <p:cNvSpPr txBox="1"/>
          <p:nvPr/>
        </p:nvSpPr>
        <p:spPr>
          <a:xfrm>
            <a:off x="3350142" y="5538712"/>
            <a:ext cx="3869269" cy="307777"/>
          </a:xfrm>
          <a:prstGeom prst="rect">
            <a:avLst/>
          </a:prstGeom>
          <a:noFill/>
        </p:spPr>
        <p:txBody>
          <a:bodyPr wrap="square">
            <a:spAutoFit/>
          </a:bodyPr>
          <a:lstStyle/>
          <a:p>
            <a:pPr algn="just">
              <a:spcAft>
                <a:spcPts val="1000"/>
              </a:spcAft>
            </a:pPr>
            <a:r>
              <a:rPr lang="en-IN" sz="1400" i="1" kern="100">
                <a:solidFill>
                  <a:srgbClr val="44546A"/>
                </a:solidFill>
                <a:effectLst/>
                <a:latin typeface="Times New Roman" panose="02020603050405020304" pitchFamily="18" charset="0"/>
                <a:ea typeface="Calibri" panose="020F0502020204030204" pitchFamily="34" charset="0"/>
              </a:rPr>
              <a:t>figure :count of is there any lagging of net</a:t>
            </a:r>
            <a:endParaRPr lang="en-IN" sz="1100" dirty="0">
              <a:effectLst/>
              <a:latin typeface="Times New Roman" panose="02020603050405020304" pitchFamily="18" charset="0"/>
              <a:ea typeface="PMingLiU" panose="02020500000000000000" pitchFamily="18" charset="-120"/>
            </a:endParaRPr>
          </a:p>
        </p:txBody>
      </p:sp>
      <p:sp>
        <p:nvSpPr>
          <p:cNvPr id="12" name="TextBox 11">
            <a:extLst>
              <a:ext uri="{FF2B5EF4-FFF2-40B4-BE49-F238E27FC236}">
                <a16:creationId xmlns:a16="http://schemas.microsoft.com/office/drawing/2014/main" id="{A218A5AC-8946-0BE0-E6C9-E1F0BCC6ED55}"/>
              </a:ext>
            </a:extLst>
          </p:cNvPr>
          <p:cNvSpPr txBox="1"/>
          <p:nvPr/>
        </p:nvSpPr>
        <p:spPr>
          <a:xfrm>
            <a:off x="-12404" y="5519700"/>
            <a:ext cx="3212804" cy="523220"/>
          </a:xfrm>
          <a:prstGeom prst="rect">
            <a:avLst/>
          </a:prstGeom>
          <a:noFill/>
        </p:spPr>
        <p:txBody>
          <a:bodyPr wrap="square">
            <a:spAutoFit/>
          </a:bodyPr>
          <a:lstStyle/>
          <a:p>
            <a:pPr algn="just">
              <a:spcAft>
                <a:spcPts val="1000"/>
              </a:spcAft>
            </a:pPr>
            <a:r>
              <a:rPr lang="en-IN" sz="1400" i="1" kern="100" dirty="0">
                <a:solidFill>
                  <a:srgbClr val="44546A"/>
                </a:solidFill>
                <a:effectLst/>
                <a:latin typeface="Times New Roman" panose="02020603050405020304" pitchFamily="18" charset="0"/>
                <a:ea typeface="Calibri" panose="020F0502020204030204" pitchFamily="34" charset="0"/>
              </a:rPr>
              <a:t>figure :response of are  4g/5g packets sent on a regular time</a:t>
            </a:r>
            <a:endParaRPr lang="en-IN" sz="1100" dirty="0">
              <a:effectLst/>
              <a:latin typeface="Times New Roman" panose="02020603050405020304" pitchFamily="18" charset="0"/>
              <a:ea typeface="PMingLiU" panose="02020500000000000000" pitchFamily="18" charset="-120"/>
            </a:endParaRPr>
          </a:p>
        </p:txBody>
      </p:sp>
      <p:sp>
        <p:nvSpPr>
          <p:cNvPr id="14" name="TextBox 13">
            <a:extLst>
              <a:ext uri="{FF2B5EF4-FFF2-40B4-BE49-F238E27FC236}">
                <a16:creationId xmlns:a16="http://schemas.microsoft.com/office/drawing/2014/main" id="{1208EAB6-7025-4E14-BC85-C23B5989B0CD}"/>
              </a:ext>
            </a:extLst>
          </p:cNvPr>
          <p:cNvSpPr txBox="1"/>
          <p:nvPr/>
        </p:nvSpPr>
        <p:spPr>
          <a:xfrm>
            <a:off x="5936365" y="5230935"/>
            <a:ext cx="6113720" cy="307777"/>
          </a:xfrm>
          <a:prstGeom prst="rect">
            <a:avLst/>
          </a:prstGeom>
          <a:noFill/>
        </p:spPr>
        <p:txBody>
          <a:bodyPr wrap="square">
            <a:spAutoFit/>
          </a:bodyPr>
          <a:lstStyle/>
          <a:p>
            <a:r>
              <a:rPr lang="en-IN" sz="1400" i="1" kern="100" dirty="0">
                <a:solidFill>
                  <a:srgbClr val="44546A"/>
                </a:solidFill>
                <a:effectLst/>
                <a:latin typeface="Times New Roman" panose="02020603050405020304" pitchFamily="18" charset="0"/>
                <a:ea typeface="Calibri" panose="020F0502020204030204" pitchFamily="34" charset="0"/>
              </a:rPr>
              <a:t>figure : responses of are people satisfied with the speed of network</a:t>
            </a:r>
            <a:endParaRPr lang="en-IN" dirty="0"/>
          </a:p>
        </p:txBody>
      </p:sp>
    </p:spTree>
    <p:extLst>
      <p:ext uri="{BB962C8B-B14F-4D97-AF65-F5344CB8AC3E}">
        <p14:creationId xmlns:p14="http://schemas.microsoft.com/office/powerpoint/2010/main" val="4075241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A823F-088A-4CD3-7D13-330A011411C3}"/>
              </a:ext>
            </a:extLst>
          </p:cNvPr>
          <p:cNvSpPr>
            <a:spLocks noGrp="1"/>
          </p:cNvSpPr>
          <p:nvPr>
            <p:ph type="title"/>
          </p:nvPr>
        </p:nvSpPr>
        <p:spPr/>
        <p:txBody>
          <a:bodyPr/>
          <a:lstStyle/>
          <a:p>
            <a:pPr algn="l"/>
            <a:r>
              <a:rPr lang="en-US" sz="3200" b="1" dirty="0">
                <a:latin typeface="Calibri" panose="020F0502020204030204" pitchFamily="34" charset="0"/>
                <a:cs typeface="Calibri" panose="020F0502020204030204" pitchFamily="34" charset="0"/>
              </a:rPr>
              <a:t>SOLUTION </a:t>
            </a:r>
            <a:endParaRPr lang="en-IN" dirty="0"/>
          </a:p>
        </p:txBody>
      </p:sp>
      <p:sp>
        <p:nvSpPr>
          <p:cNvPr id="3" name="Slide Number Placeholder 2">
            <a:extLst>
              <a:ext uri="{FF2B5EF4-FFF2-40B4-BE49-F238E27FC236}">
                <a16:creationId xmlns:a16="http://schemas.microsoft.com/office/drawing/2014/main" id="{0AFB4C47-DB8D-54DC-9013-138BEAA530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1029" name="Picture 5">
            <a:extLst>
              <a:ext uri="{FF2B5EF4-FFF2-40B4-BE49-F238E27FC236}">
                <a16:creationId xmlns:a16="http://schemas.microsoft.com/office/drawing/2014/main" id="{7A558C3D-D162-A069-80D4-CF53AA072D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016" y="3361968"/>
            <a:ext cx="2445672" cy="325728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tart  [Teacher Enters Classroom] --&gt; [Device Captures Image]  (Device uses Facial Recognition) |   Yes: |   [Create Excel Sheet with Teacher's Name and Time] | |   No: |   [Continue Scanning for Teacher's Face]  [Scan Student ID Barcode] --&gt; [Map Barcode to Student Roll Number]  (Device receives Hangouts Message) |   Yes: |   [Close Attendance Record] |   [Send Excel Sheet to Teacher's Email] | |   No: |   [Continue Monitoring Hangouts Messages]  End  create a pictorial flow">
            <a:extLst>
              <a:ext uri="{FF2B5EF4-FFF2-40B4-BE49-F238E27FC236}">
                <a16:creationId xmlns:a16="http://schemas.microsoft.com/office/drawing/2014/main" id="{0A3D3C6B-392D-8E19-62A7-6AAE179D28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9983" y="1015410"/>
            <a:ext cx="2880480" cy="410948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9B04FF8-C5EF-B6D5-1895-2154AEC80A45}"/>
              </a:ext>
            </a:extLst>
          </p:cNvPr>
          <p:cNvSpPr txBox="1"/>
          <p:nvPr/>
        </p:nvSpPr>
        <p:spPr>
          <a:xfrm>
            <a:off x="79911" y="838200"/>
            <a:ext cx="6905680" cy="2523768"/>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6G IN BIOMETRIC ATTENDANCE SYSTEM</a:t>
            </a:r>
            <a:endParaRPr kumimoji="0" lang="en-US" altLang="en-US" sz="11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Just think of a device that can save time of both teacher and student that spend during attendance. We proposed a device that use 6G, biometric, QR Scanner and face -</a:t>
            </a:r>
            <a:r>
              <a:rPr kumimoji="0" lang="en-US" altLang="en-US" sz="1400" b="0" i="0" u="none" strike="noStrike" cap="none" normalizeH="0" baseline="0" dirty="0" err="1">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Reco</a:t>
            </a:r>
            <a:r>
              <a:rPr kumimoji="0" lang="en-US" altLang="en-US" sz="1400" b="0" i="0" u="none" strike="noStrike" cap="none" normalizeH="0" baseline="0" dirty="0">
                <a:ln>
                  <a:noFill/>
                </a:ln>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algorithms for taking attendance and saving time for both teacher and student . First the device scans teacher face the creates a new spreadsheet on name of teacher with time stamp and date  and then starts scanning barcode in students ID card and save that student roll no in that spreadsheet with time he entered . after completion of all student it will wait for teachers message through hangouts. If teachers sends the message it will close the attendance and sent the spreadsheet to teacher through is mail. This will help to save time that’s wasted during attendance and teachers can use those time for teaching   </a:t>
            </a:r>
            <a:endParaRPr kumimoji="0" lang="en-US" altLang="en-US" sz="11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422F4B16-429C-09FD-2B8C-6ED68C9681A1}"/>
              </a:ext>
            </a:extLst>
          </p:cNvPr>
          <p:cNvSpPr txBox="1"/>
          <p:nvPr/>
        </p:nvSpPr>
        <p:spPr>
          <a:xfrm>
            <a:off x="7071242" y="5278957"/>
            <a:ext cx="6177516" cy="307777"/>
          </a:xfrm>
          <a:prstGeom prst="rect">
            <a:avLst/>
          </a:prstGeom>
          <a:noFill/>
        </p:spPr>
        <p:txBody>
          <a:bodyPr wrap="square">
            <a:spAutoFit/>
          </a:bodyPr>
          <a:lstStyle/>
          <a:p>
            <a:pPr>
              <a:spcAft>
                <a:spcPts val="1000"/>
              </a:spcAft>
            </a:pPr>
            <a:r>
              <a:rPr lang="en-IN" sz="1400" i="1" kern="100"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rPr>
              <a:t>Figure  how does our model works</a:t>
            </a:r>
          </a:p>
        </p:txBody>
      </p:sp>
      <p:sp>
        <p:nvSpPr>
          <p:cNvPr id="12" name="TextBox 11">
            <a:extLst>
              <a:ext uri="{FF2B5EF4-FFF2-40B4-BE49-F238E27FC236}">
                <a16:creationId xmlns:a16="http://schemas.microsoft.com/office/drawing/2014/main" id="{4DF92DE8-ACF4-4781-95E0-45ECD57A04B9}"/>
              </a:ext>
            </a:extLst>
          </p:cNvPr>
          <p:cNvSpPr txBox="1"/>
          <p:nvPr/>
        </p:nvSpPr>
        <p:spPr>
          <a:xfrm>
            <a:off x="2902688" y="6202462"/>
            <a:ext cx="6703826" cy="307777"/>
          </a:xfrm>
          <a:prstGeom prst="rect">
            <a:avLst/>
          </a:prstGeom>
          <a:noFill/>
        </p:spPr>
        <p:txBody>
          <a:bodyPr wrap="square">
            <a:spAutoFit/>
          </a:bodyPr>
          <a:lstStyle/>
          <a:p>
            <a:pPr>
              <a:spcAft>
                <a:spcPts val="1000"/>
              </a:spcAft>
            </a:pPr>
            <a:r>
              <a:rPr lang="en-IN" sz="1400" i="1" kern="100">
                <a:solidFill>
                  <a:srgbClr val="1F497D"/>
                </a:solidFill>
                <a:effectLst/>
                <a:latin typeface="Calibri" panose="020F0502020204030204" pitchFamily="34" charset="0"/>
                <a:ea typeface="Calibri" panose="020F0502020204030204" pitchFamily="34" charset="0"/>
                <a:cs typeface="Times New Roman" panose="02020603050405020304" pitchFamily="18" charset="0"/>
              </a:rPr>
              <a:t>Figure : </a:t>
            </a:r>
            <a:r>
              <a:rPr lang="en-IN" sz="1400" i="1" kern="100"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rPr>
              <a:t>how does our model works                                                                </a:t>
            </a:r>
          </a:p>
        </p:txBody>
      </p:sp>
    </p:spTree>
    <p:extLst>
      <p:ext uri="{BB962C8B-B14F-4D97-AF65-F5344CB8AC3E}">
        <p14:creationId xmlns:p14="http://schemas.microsoft.com/office/powerpoint/2010/main" val="3841098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4"/>
          <p:cNvSpPr txBox="1"/>
          <p:nvPr/>
        </p:nvSpPr>
        <p:spPr>
          <a:xfrm>
            <a:off x="391886" y="141514"/>
            <a:ext cx="209005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References</a:t>
            </a:r>
            <a:endParaRPr sz="3200" b="1">
              <a:solidFill>
                <a:schemeClr val="dk1"/>
              </a:solidFill>
              <a:latin typeface="Calibri"/>
              <a:ea typeface="Calibri"/>
              <a:cs typeface="Calibri"/>
              <a:sym typeface="Calibri"/>
            </a:endParaRPr>
          </a:p>
        </p:txBody>
      </p:sp>
      <p:sp>
        <p:nvSpPr>
          <p:cNvPr id="95" name="Google Shape;95;p24"/>
          <p:cNvSpPr txBox="1"/>
          <p:nvPr/>
        </p:nvSpPr>
        <p:spPr>
          <a:xfrm>
            <a:off x="214604" y="811763"/>
            <a:ext cx="11803200" cy="369300"/>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1800"/>
              <a:buFont typeface="Times New Roman"/>
              <a:buAutoNum type="arabicPeriod"/>
            </a:pPr>
            <a:endParaRPr sz="1800">
              <a:solidFill>
                <a:schemeClr val="dk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E40DAC42-53E3-2FF9-3D72-B8FBD41178AC}"/>
              </a:ext>
            </a:extLst>
          </p:cNvPr>
          <p:cNvSpPr txBox="1"/>
          <p:nvPr/>
        </p:nvSpPr>
        <p:spPr>
          <a:xfrm>
            <a:off x="95693" y="811763"/>
            <a:ext cx="11881703" cy="6172780"/>
          </a:xfrm>
          <a:prstGeom prst="rect">
            <a:avLst/>
          </a:prstGeom>
          <a:noFill/>
        </p:spPr>
        <p:txBody>
          <a:bodyPr wrap="square">
            <a:spAutoFit/>
          </a:bodyPr>
          <a:lstStyle/>
          <a:p>
            <a:pPr marL="342900" lvl="0" indent="-342900" algn="just">
              <a:lnSpc>
                <a:spcPct val="107000"/>
              </a:lnSpc>
              <a:spcAft>
                <a:spcPts val="800"/>
              </a:spcAft>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Adams, R., &amp; Kim, S. (2021). Edge Computing in 6G Networks: Challenges and Opportunities. IEEE Communications Magazine, 59(7), 82-88.</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Brown, T., &amp; Lee, J. (2023). Beyond Speed and Connectivity: Envisioning the Future of 6G Networks. International Journal of Communication Systems, 36(9), 1345-1360.</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Cho, H., et al. (2022). Global Research Initiatives in 6G Wireless Technology: A Comprehensive Review. Wireless Personal Communications, 128(3), 1901-1915.</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Choudhury, A., &amp; Sarkar, S. (2022). Evolution of wireless communication technologies: A comprehensive review. Wireless Networks, 28(1), 87-110.</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kern="100" dirty="0">
                <a:effectLst/>
                <a:latin typeface="Times New Roman" panose="02020603050405020304" pitchFamily="18" charset="0"/>
                <a:ea typeface="Calibri" panose="020F0502020204030204" pitchFamily="34" charset="0"/>
              </a:rPr>
              <a:t>Datta, R., et al. (2023). "Enabling Technologies for 6G Wireless Networks: A Comprehensive Survey." *IEEE Communications Surveys &amp; Tutorials*, 25(1), 357-382.</a:t>
            </a:r>
            <a:endParaRPr lang="en-IN" sz="11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kern="100" dirty="0" err="1">
                <a:effectLst/>
                <a:latin typeface="Times New Roman" panose="02020603050405020304" pitchFamily="18" charset="0"/>
                <a:ea typeface="Calibri" panose="020F0502020204030204" pitchFamily="34" charset="0"/>
              </a:rPr>
              <a:t>Forouzan</a:t>
            </a:r>
            <a:r>
              <a:rPr lang="en-IN" sz="1400" kern="100" dirty="0">
                <a:effectLst/>
                <a:latin typeface="Times New Roman" panose="02020603050405020304" pitchFamily="18" charset="0"/>
                <a:ea typeface="Calibri" panose="020F0502020204030204" pitchFamily="34" charset="0"/>
              </a:rPr>
              <a:t>, B. A. (2007). Data Communications and Networking. McGraw-Hill.</a:t>
            </a:r>
            <a:endParaRPr lang="en-IN" sz="11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Garcia, A., &amp; Wang, Y. (2021). The Evolution of Telecommunications: A Comparative Analysis of 5G and Beyond. Journal of Telecommunications and Information Technology, 5(2), 127-141.</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kern="100" dirty="0">
                <a:effectLst/>
                <a:latin typeface="Times New Roman" panose="02020603050405020304" pitchFamily="18" charset="0"/>
                <a:ea typeface="Calibri" panose="020F0502020204030204" pitchFamily="34" charset="0"/>
              </a:rPr>
              <a:t>Gupta, A., &amp; Sharma, P. (2022). "Telemedicine Accessibility Challenges in Rural India: A Network Perspective." *Journal of Telemedicine and Telecare*, 28(2), 87-104.</a:t>
            </a:r>
            <a:endParaRPr lang="en-IN" sz="11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kern="100" dirty="0">
                <a:effectLst/>
                <a:latin typeface="Times New Roman" panose="02020603050405020304" pitchFamily="18" charset="0"/>
                <a:ea typeface="Calibri" panose="020F0502020204030204" pitchFamily="34" charset="0"/>
              </a:rPr>
              <a:t>Gupta, A., et al. (2020). "Digital Education in Rural India: Challenges and Opportunities." *International Journal of Educational Development*, 78, 102226.</a:t>
            </a:r>
            <a:endParaRPr lang="en-IN" sz="11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Gupta, M., et al. (2023). Hexa-X: Advancing 6G Research Standards Through Global Collaboration. Journal of Global Information Technology Management, 26(4), 307-322.</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Gupta, P</a:t>
            </a:r>
            <a:r>
              <a:rPr lang="en-IN" sz="1400" kern="100" dirty="0">
                <a:effectLst/>
                <a:latin typeface="Times New Roman" panose="02020603050405020304" pitchFamily="18" charset="0"/>
                <a:ea typeface="Calibri" panose="020F0502020204030204" pitchFamily="34" charset="0"/>
              </a:rPr>
              <a:t>., et al. (2022). "Advancements in 6G Technology and Its Implications for Defence Communication Networks." *International Conference on Defence Technology*, 345-360.</a:t>
            </a:r>
            <a:endParaRPr lang="en-IN" sz="11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Gupta, P., et al. (2023). 6G as a linchpin for innovation in smart cities and Industry 4.0. International Journal of Distributed Sensor Networks, 19(7), 100-115.</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kern="100" dirty="0">
                <a:effectLst/>
                <a:latin typeface="Times New Roman" panose="02020603050405020304" pitchFamily="18" charset="0"/>
                <a:ea typeface="Calibri" panose="020F0502020204030204" pitchFamily="34" charset="0"/>
              </a:rPr>
              <a:t>Gupta, S., &amp; Reddy, N. (2020). "Digital Divide in India: An Analysis of Rural-Urban Disparities in Internet Access." International Journal of Information Management, 50, 151-163.</a:t>
            </a:r>
            <a:endParaRPr lang="en-IN" sz="11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Johnson, L., &amp; Chen, Q. (2022). Technological Advancements in 6G: A Comprehensive Overview. International Journal of Mobile Communications, 20(3), 256-271.</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Joshi, A., &amp; Prakash, A. (2020). Strategic importance of telecommunications in India: A review. Journal of Economic Structures, 9(1), 1-15.</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kern="100" dirty="0">
                <a:effectLst/>
                <a:latin typeface="Times New Roman" panose="02020603050405020304" pitchFamily="18" charset="0"/>
                <a:ea typeface="Calibri" panose="020F0502020204030204" pitchFamily="34" charset="0"/>
              </a:rPr>
              <a:t>Khan, S., &amp; Verma, R. (2021). "Data Security in e-Health: A Case Study of Challenges in Indian Healthcare Networks." *International Journal of Medical Informatics*, 148, 104355.</a:t>
            </a:r>
            <a:endParaRPr lang="en-IN" sz="1100" dirty="0">
              <a:effectLst/>
              <a:latin typeface="Times New Roman" panose="02020603050405020304" pitchFamily="18" charset="0"/>
              <a:ea typeface="PMingLiU" panose="02020500000000000000" pitchFamily="18" charset="-12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4"/>
          <p:cNvSpPr txBox="1"/>
          <p:nvPr/>
        </p:nvSpPr>
        <p:spPr>
          <a:xfrm>
            <a:off x="391886" y="141514"/>
            <a:ext cx="209005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References</a:t>
            </a:r>
            <a:endParaRPr sz="3200" b="1">
              <a:solidFill>
                <a:schemeClr val="dk1"/>
              </a:solidFill>
              <a:latin typeface="Calibri"/>
              <a:ea typeface="Calibri"/>
              <a:cs typeface="Calibri"/>
              <a:sym typeface="Calibri"/>
            </a:endParaRPr>
          </a:p>
        </p:txBody>
      </p:sp>
      <p:sp>
        <p:nvSpPr>
          <p:cNvPr id="95" name="Google Shape;95;p24"/>
          <p:cNvSpPr txBox="1"/>
          <p:nvPr/>
        </p:nvSpPr>
        <p:spPr>
          <a:xfrm>
            <a:off x="214604" y="811763"/>
            <a:ext cx="11803200" cy="369300"/>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1800"/>
              <a:buFont typeface="Times New Roman"/>
              <a:buAutoNum type="arabicPeriod"/>
            </a:pPr>
            <a:endParaRPr sz="1800">
              <a:solidFill>
                <a:schemeClr val="dk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E40DAC42-53E3-2FF9-3D72-B8FBD41178AC}"/>
              </a:ext>
            </a:extLst>
          </p:cNvPr>
          <p:cNvSpPr txBox="1"/>
          <p:nvPr/>
        </p:nvSpPr>
        <p:spPr>
          <a:xfrm>
            <a:off x="95693" y="811763"/>
            <a:ext cx="11881703" cy="6172780"/>
          </a:xfrm>
          <a:prstGeom prst="rect">
            <a:avLst/>
          </a:prstGeom>
          <a:noFill/>
        </p:spPr>
        <p:txBody>
          <a:bodyPr wrap="square">
            <a:spAutoFit/>
          </a:bodyPr>
          <a:lstStyle/>
          <a:p>
            <a:pPr marL="342900" lvl="0" indent="-342900" algn="just">
              <a:lnSpc>
                <a:spcPct val="107000"/>
              </a:lnSpc>
              <a:spcAft>
                <a:spcPts val="800"/>
              </a:spcAft>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Adams, R., &amp; Kim, S. (2021). Edge Computing in 6G Networks: Challenges and Opportunities. IEEE Communications Magazine, 59(7), 82-88.</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Brown, T., &amp; Lee, J. (2023). Beyond Speed and Connectivity: Envisioning the Future of 6G Networks. International Journal of Communication Systems, 36(9), 1345-1360.</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Cho, H., et al. (2022). Global Research Initiatives in 6G Wireless Technology: A Comprehensive Review. Wireless Personal Communications, 128(3), 1901-1915.</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Choudhury, A., &amp; Sarkar, S. (2022). Evolution of wireless communication technologies: A comprehensive review. Wireless Networks, 28(1), 87-110.</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kern="100" dirty="0">
                <a:effectLst/>
                <a:latin typeface="Times New Roman" panose="02020603050405020304" pitchFamily="18" charset="0"/>
                <a:ea typeface="Calibri" panose="020F0502020204030204" pitchFamily="34" charset="0"/>
              </a:rPr>
              <a:t>Datta, R., et al. (2023). "Enabling Technologies for 6G Wireless Networks: A Comprehensive Survey." *IEEE Communications Surveys &amp; Tutorials*, 25(1), 357-382.</a:t>
            </a:r>
            <a:endParaRPr lang="en-IN" sz="11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kern="100" dirty="0" err="1">
                <a:effectLst/>
                <a:latin typeface="Times New Roman" panose="02020603050405020304" pitchFamily="18" charset="0"/>
                <a:ea typeface="Calibri" panose="020F0502020204030204" pitchFamily="34" charset="0"/>
              </a:rPr>
              <a:t>Forouzan</a:t>
            </a:r>
            <a:r>
              <a:rPr lang="en-IN" sz="1400" kern="100" dirty="0">
                <a:effectLst/>
                <a:latin typeface="Times New Roman" panose="02020603050405020304" pitchFamily="18" charset="0"/>
                <a:ea typeface="Calibri" panose="020F0502020204030204" pitchFamily="34" charset="0"/>
              </a:rPr>
              <a:t>, B. A. (2007). Data Communications and Networking. McGraw-Hill.</a:t>
            </a:r>
            <a:endParaRPr lang="en-IN" sz="11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Garcia, A., &amp; Wang, Y. (2021). The Evolution of Telecommunications: A Comparative Analysis of 5G and Beyond. Journal of Telecommunications and Information Technology, 5(2), 127-141.</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kern="100" dirty="0">
                <a:effectLst/>
                <a:latin typeface="Times New Roman" panose="02020603050405020304" pitchFamily="18" charset="0"/>
                <a:ea typeface="Calibri" panose="020F0502020204030204" pitchFamily="34" charset="0"/>
              </a:rPr>
              <a:t>Gupta, A., &amp; Sharma, P. (2022). "Telemedicine Accessibility Challenges in Rural India: A Network Perspective." *Journal of Telemedicine and Telecare*, 28(2), 87-104.</a:t>
            </a:r>
            <a:endParaRPr lang="en-IN" sz="11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kern="100" dirty="0">
                <a:effectLst/>
                <a:latin typeface="Times New Roman" panose="02020603050405020304" pitchFamily="18" charset="0"/>
                <a:ea typeface="Calibri" panose="020F0502020204030204" pitchFamily="34" charset="0"/>
              </a:rPr>
              <a:t>Gupta, A., et al. (2020). "Digital Education in Rural India: Challenges and Opportunities." *International Journal of Educational Development*, 78, 102226.</a:t>
            </a:r>
            <a:endParaRPr lang="en-IN" sz="11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Gupta, M., et al. (2023). Hexa-X: Advancing 6G Research Standards Through Global Collaboration. Journal of Global Information Technology Management, 26(4), 307-322.</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Gupta, P</a:t>
            </a:r>
            <a:r>
              <a:rPr lang="en-IN" sz="1400" kern="100" dirty="0">
                <a:effectLst/>
                <a:latin typeface="Times New Roman" panose="02020603050405020304" pitchFamily="18" charset="0"/>
                <a:ea typeface="Calibri" panose="020F0502020204030204" pitchFamily="34" charset="0"/>
              </a:rPr>
              <a:t>., et al. (2022). "Advancements in 6G Technology and Its Implications for Defence Communication Networks." *International Conference on Defence Technology*, 345-360.</a:t>
            </a:r>
            <a:endParaRPr lang="en-IN" sz="11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Gupta, P., et al. (2023). 6G as a linchpin for innovation in smart cities and Industry 4.0. International Journal of Distributed Sensor Networks, 19(7), 100-115.</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kern="100" dirty="0">
                <a:effectLst/>
                <a:latin typeface="Times New Roman" panose="02020603050405020304" pitchFamily="18" charset="0"/>
                <a:ea typeface="Calibri" panose="020F0502020204030204" pitchFamily="34" charset="0"/>
              </a:rPr>
              <a:t>Gupta, S., &amp; Reddy, N. (2020). "Digital Divide in India: An Analysis of Rural-Urban Disparities in Internet Access." International Journal of Information Management, 50, 151-163.</a:t>
            </a:r>
            <a:endParaRPr lang="en-IN" sz="11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Johnson, L., &amp; Chen, Q. (2022). Technological Advancements in 6G: A Comprehensive Overview. International Journal of Mobile Communications, 20(3), 256-271.</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dirty="0">
                <a:solidFill>
                  <a:srgbClr val="374151"/>
                </a:solidFill>
                <a:effectLst/>
                <a:latin typeface="Times New Roman" panose="02020603050405020304" pitchFamily="18" charset="0"/>
                <a:ea typeface="Times New Roman" panose="02020603050405020304" pitchFamily="18" charset="0"/>
              </a:rPr>
              <a:t>Joshi, A., &amp; Prakash, A. (2020). Strategic importance of telecommunications in India: A review. Journal of Economic Structures, 9(1), 1-15.</a:t>
            </a:r>
            <a:endParaRPr lang="en-IN" sz="11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a:pPr>
            <a:r>
              <a:rPr lang="en-IN" sz="1400" kern="100" dirty="0">
                <a:effectLst/>
                <a:latin typeface="Times New Roman" panose="02020603050405020304" pitchFamily="18" charset="0"/>
                <a:ea typeface="Calibri" panose="020F0502020204030204" pitchFamily="34" charset="0"/>
              </a:rPr>
              <a:t>Khan, S., &amp; Verma, R. (2021). "Data Security in e-Health: A Case Study of Challenges in Indian Healthcare Networks." *International Journal of Medical Informatics*, 148, 104355.</a:t>
            </a:r>
            <a:endParaRPr lang="en-IN" sz="11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755016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4"/>
          <p:cNvSpPr txBox="1"/>
          <p:nvPr/>
        </p:nvSpPr>
        <p:spPr>
          <a:xfrm>
            <a:off x="391886" y="141514"/>
            <a:ext cx="209005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References</a:t>
            </a:r>
            <a:endParaRPr sz="3200" b="1">
              <a:solidFill>
                <a:schemeClr val="dk1"/>
              </a:solidFill>
              <a:latin typeface="Calibri"/>
              <a:ea typeface="Calibri"/>
              <a:cs typeface="Calibri"/>
              <a:sym typeface="Calibri"/>
            </a:endParaRPr>
          </a:p>
        </p:txBody>
      </p:sp>
      <p:sp>
        <p:nvSpPr>
          <p:cNvPr id="95" name="Google Shape;95;p24"/>
          <p:cNvSpPr txBox="1"/>
          <p:nvPr/>
        </p:nvSpPr>
        <p:spPr>
          <a:xfrm>
            <a:off x="214604" y="811763"/>
            <a:ext cx="11803200" cy="369300"/>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1800"/>
              <a:buFont typeface="Times New Roman"/>
              <a:buAutoNum type="arabicPeriod"/>
            </a:pPr>
            <a:endParaRPr sz="1800">
              <a:solidFill>
                <a:schemeClr val="dk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E40DAC42-53E3-2FF9-3D72-B8FBD41178AC}"/>
              </a:ext>
            </a:extLst>
          </p:cNvPr>
          <p:cNvSpPr txBox="1"/>
          <p:nvPr/>
        </p:nvSpPr>
        <p:spPr>
          <a:xfrm>
            <a:off x="95693" y="811763"/>
            <a:ext cx="11881703" cy="6398611"/>
          </a:xfrm>
          <a:prstGeom prst="rect">
            <a:avLst/>
          </a:prstGeom>
          <a:noFill/>
        </p:spPr>
        <p:txBody>
          <a:bodyPr wrap="square">
            <a:spAutoFit/>
          </a:bodyPr>
          <a:lstStyle/>
          <a:p>
            <a:pPr marL="400050" lvl="0" indent="-400050" algn="just">
              <a:lnSpc>
                <a:spcPct val="107000"/>
              </a:lnSpc>
              <a:spcAft>
                <a:spcPts val="800"/>
              </a:spcAft>
              <a:buFont typeface="+mj-lt"/>
              <a:buAutoNum type="romanUcPeriod" startAt="17"/>
            </a:pPr>
            <a:r>
              <a:rPr lang="en-IN" sz="1800" dirty="0">
                <a:solidFill>
                  <a:srgbClr val="374151"/>
                </a:solidFill>
                <a:effectLst/>
                <a:latin typeface="Times New Roman" panose="02020603050405020304" pitchFamily="18" charset="0"/>
                <a:ea typeface="Times New Roman" panose="02020603050405020304" pitchFamily="18" charset="0"/>
              </a:rPr>
              <a:t>Kumar, A., &amp; Akhtar, Z. (2023). 6G wireless communication technology: A comprehensive review. Transactions on Emerging Telecommunications Technologies, 34(6), e4300.</a:t>
            </a:r>
            <a:endParaRPr lang="en-IN" sz="18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startAt="17"/>
            </a:pPr>
            <a:r>
              <a:rPr lang="en-IN" sz="1800" dirty="0">
                <a:solidFill>
                  <a:srgbClr val="374151"/>
                </a:solidFill>
                <a:effectLst/>
                <a:latin typeface="Times New Roman" panose="02020603050405020304" pitchFamily="18" charset="0"/>
                <a:ea typeface="Times New Roman" panose="02020603050405020304" pitchFamily="18" charset="0"/>
              </a:rPr>
              <a:t>Kumar, R., &amp; Jain, V. (2022). Terahertz communication technology: A review. IEEE Transactions on Terahertz Science and Technology, 12(5), 472-487.</a:t>
            </a:r>
            <a:endParaRPr lang="en-IN" sz="18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startAt="17"/>
            </a:pPr>
            <a:r>
              <a:rPr lang="en-IN" sz="1800" kern="100" dirty="0">
                <a:effectLst/>
                <a:latin typeface="Times New Roman" panose="02020603050405020304" pitchFamily="18" charset="0"/>
                <a:ea typeface="Calibri" panose="020F0502020204030204" pitchFamily="34" charset="0"/>
              </a:rPr>
              <a:t>Kumar, R., &amp; Singh, A. (2021). "Network Latency Issues in Defence Operations: A Case Study of the Indian Defence Sector." *International Journal of Military Communications*, 28(4), 567-582.</a:t>
            </a:r>
            <a:endParaRPr lang="en-IN" sz="18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startAt="17"/>
            </a:pPr>
            <a:r>
              <a:rPr lang="en-IN" sz="1800" dirty="0">
                <a:solidFill>
                  <a:srgbClr val="374151"/>
                </a:solidFill>
                <a:effectLst/>
                <a:latin typeface="Times New Roman" panose="02020603050405020304" pitchFamily="18" charset="0"/>
                <a:ea typeface="Times New Roman" panose="02020603050405020304" pitchFamily="18" charset="0"/>
              </a:rPr>
              <a:t>Kumar, S., et al. (2023). Tailored solutions of 6G technology for the Indian context. International Journal of Electrical, Computer, and Systems Engineering, 12(4), 300-315.</a:t>
            </a:r>
            <a:endParaRPr lang="en-IN" sz="18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startAt="17"/>
            </a:pPr>
            <a:r>
              <a:rPr lang="en-IN" sz="1800" kern="100" dirty="0">
                <a:solidFill>
                  <a:srgbClr val="222222"/>
                </a:solidFill>
                <a:effectLst/>
                <a:highlight>
                  <a:srgbClr val="FFFFFF"/>
                </a:highlight>
                <a:latin typeface="Times New Roman" panose="02020603050405020304" pitchFamily="18" charset="0"/>
                <a:ea typeface="Calibri" panose="020F0502020204030204" pitchFamily="34" charset="0"/>
              </a:rPr>
              <a:t>Kung, S.Y., Mak, M.W., Lin, S.H., Mak, M.W. and Lin, S., 2005. </a:t>
            </a:r>
            <a:r>
              <a:rPr lang="en-IN" sz="1800" i="1" kern="100" dirty="0">
                <a:solidFill>
                  <a:srgbClr val="222222"/>
                </a:solidFill>
                <a:effectLst/>
                <a:highlight>
                  <a:srgbClr val="FFFFFF"/>
                </a:highlight>
                <a:latin typeface="Times New Roman" panose="02020603050405020304" pitchFamily="18" charset="0"/>
                <a:ea typeface="Calibri" panose="020F0502020204030204" pitchFamily="34" charset="0"/>
              </a:rPr>
              <a:t>Biometric authentication: a machine learning approach</a:t>
            </a:r>
            <a:r>
              <a:rPr lang="en-IN" sz="1800" kern="100" dirty="0">
                <a:solidFill>
                  <a:srgbClr val="222222"/>
                </a:solidFill>
                <a:effectLst/>
                <a:highlight>
                  <a:srgbClr val="FFFFFF"/>
                </a:highlight>
                <a:latin typeface="Times New Roman" panose="02020603050405020304" pitchFamily="18" charset="0"/>
                <a:ea typeface="Calibri" panose="020F0502020204030204" pitchFamily="34" charset="0"/>
              </a:rPr>
              <a:t> (pp. 27-49). New York: Prentice Hall Professional Technical Reference.</a:t>
            </a:r>
            <a:endParaRPr lang="en-IN" sz="18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startAt="17"/>
            </a:pPr>
            <a:r>
              <a:rPr lang="en-IN" sz="1800" kern="100" dirty="0">
                <a:effectLst/>
                <a:latin typeface="Times New Roman" panose="02020603050405020304" pitchFamily="18" charset="0"/>
                <a:ea typeface="Calibri" panose="020F0502020204030204" pitchFamily="34" charset="0"/>
              </a:rPr>
              <a:t>Kurose, J. F., &amp; Ross, K. W. (2017). Computer Networking: A Top-Down Approach. Pearson.</a:t>
            </a:r>
            <a:endParaRPr lang="en-IN" sz="18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startAt="17"/>
            </a:pPr>
            <a:r>
              <a:rPr lang="en-IN" sz="1800" dirty="0">
                <a:solidFill>
                  <a:srgbClr val="374151"/>
                </a:solidFill>
                <a:effectLst/>
                <a:latin typeface="Times New Roman" panose="02020603050405020304" pitchFamily="18" charset="0"/>
                <a:ea typeface="Times New Roman" panose="02020603050405020304" pitchFamily="18" charset="0"/>
              </a:rPr>
              <a:t>Liu, X., et al. (2023). Key Players in 6G Development: A Comparative Study. International Journal of Advanced Networking and Applications, 15(4), 212-226.</a:t>
            </a:r>
            <a:endParaRPr lang="en-IN" sz="1800" dirty="0">
              <a:solidFill>
                <a:srgbClr val="374151"/>
              </a:solidFill>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startAt="17"/>
            </a:pPr>
            <a:r>
              <a:rPr lang="en-IN" sz="1800" kern="100" dirty="0">
                <a:effectLst/>
                <a:latin typeface="Times New Roman" panose="02020603050405020304" pitchFamily="18" charset="0"/>
                <a:ea typeface="Calibri" panose="020F0502020204030204" pitchFamily="34" charset="0"/>
              </a:rPr>
              <a:t>Mahmood, Z., et al. (2022). "6G Wireless Networks: Vision, Requirements, Architecture, and Key Technologies." *IEEE Open Journal of the Communications Society*, 3, 585-596.</a:t>
            </a:r>
            <a:endParaRPr lang="en-IN" sz="18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startAt="17"/>
            </a:pPr>
            <a:r>
              <a:rPr lang="en-IN" sz="1800" kern="100" dirty="0" err="1">
                <a:solidFill>
                  <a:srgbClr val="222222"/>
                </a:solidFill>
                <a:effectLst/>
                <a:highlight>
                  <a:srgbClr val="FFFFFF"/>
                </a:highlight>
                <a:latin typeface="Times New Roman" panose="02020603050405020304" pitchFamily="18" charset="0"/>
                <a:ea typeface="Calibri" panose="020F0502020204030204" pitchFamily="34" charset="0"/>
              </a:rPr>
              <a:t>Malgheet</a:t>
            </a:r>
            <a:r>
              <a:rPr lang="en-IN" sz="1800" kern="100" dirty="0">
                <a:solidFill>
                  <a:srgbClr val="222222"/>
                </a:solidFill>
                <a:effectLst/>
                <a:highlight>
                  <a:srgbClr val="FFFFFF"/>
                </a:highlight>
                <a:latin typeface="Times New Roman" panose="02020603050405020304" pitchFamily="18" charset="0"/>
                <a:ea typeface="Calibri" panose="020F0502020204030204" pitchFamily="34" charset="0"/>
              </a:rPr>
              <a:t>, J.R., </a:t>
            </a:r>
            <a:r>
              <a:rPr lang="en-IN" sz="1800" kern="100" dirty="0" err="1">
                <a:solidFill>
                  <a:srgbClr val="222222"/>
                </a:solidFill>
                <a:effectLst/>
                <a:highlight>
                  <a:srgbClr val="FFFFFF"/>
                </a:highlight>
                <a:latin typeface="Times New Roman" panose="02020603050405020304" pitchFamily="18" charset="0"/>
                <a:ea typeface="Calibri" panose="020F0502020204030204" pitchFamily="34" charset="0"/>
              </a:rPr>
              <a:t>Manshor</a:t>
            </a:r>
            <a:r>
              <a:rPr lang="en-IN" sz="1800" kern="100" dirty="0">
                <a:solidFill>
                  <a:srgbClr val="222222"/>
                </a:solidFill>
                <a:effectLst/>
                <a:highlight>
                  <a:srgbClr val="FFFFFF"/>
                </a:highlight>
                <a:latin typeface="Times New Roman" panose="02020603050405020304" pitchFamily="18" charset="0"/>
                <a:ea typeface="Calibri" panose="020F0502020204030204" pitchFamily="34" charset="0"/>
              </a:rPr>
              <a:t>, N.B., </a:t>
            </a:r>
            <a:r>
              <a:rPr lang="en-IN" sz="1800" kern="100" dirty="0" err="1">
                <a:solidFill>
                  <a:srgbClr val="222222"/>
                </a:solidFill>
                <a:effectLst/>
                <a:highlight>
                  <a:srgbClr val="FFFFFF"/>
                </a:highlight>
                <a:latin typeface="Times New Roman" panose="02020603050405020304" pitchFamily="18" charset="0"/>
                <a:ea typeface="Calibri" panose="020F0502020204030204" pitchFamily="34" charset="0"/>
              </a:rPr>
              <a:t>Affendey</a:t>
            </a:r>
            <a:r>
              <a:rPr lang="en-IN" sz="1800" kern="100" dirty="0">
                <a:solidFill>
                  <a:srgbClr val="222222"/>
                </a:solidFill>
                <a:effectLst/>
                <a:highlight>
                  <a:srgbClr val="FFFFFF"/>
                </a:highlight>
                <a:latin typeface="Times New Roman" panose="02020603050405020304" pitchFamily="18" charset="0"/>
                <a:ea typeface="Calibri" panose="020F0502020204030204" pitchFamily="34" charset="0"/>
              </a:rPr>
              <a:t>, L.S. and Abdul </a:t>
            </a:r>
            <a:r>
              <a:rPr lang="en-IN" sz="1800" kern="100" dirty="0" err="1">
                <a:solidFill>
                  <a:srgbClr val="222222"/>
                </a:solidFill>
                <a:effectLst/>
                <a:highlight>
                  <a:srgbClr val="FFFFFF"/>
                </a:highlight>
                <a:latin typeface="Times New Roman" panose="02020603050405020304" pitchFamily="18" charset="0"/>
                <a:ea typeface="Calibri" panose="020F0502020204030204" pitchFamily="34" charset="0"/>
              </a:rPr>
              <a:t>Halin</a:t>
            </a:r>
            <a:r>
              <a:rPr lang="en-IN" sz="1800" kern="100" dirty="0">
                <a:solidFill>
                  <a:srgbClr val="222222"/>
                </a:solidFill>
                <a:effectLst/>
                <a:highlight>
                  <a:srgbClr val="FFFFFF"/>
                </a:highlight>
                <a:latin typeface="Times New Roman" panose="02020603050405020304" pitchFamily="18" charset="0"/>
                <a:ea typeface="Calibri" panose="020F0502020204030204" pitchFamily="34" charset="0"/>
              </a:rPr>
              <a:t>, A.B., 2021. Iris recognition development techniques: a comprehensive review. </a:t>
            </a:r>
            <a:r>
              <a:rPr lang="en-IN" sz="1800" i="1" kern="100" dirty="0">
                <a:solidFill>
                  <a:srgbClr val="222222"/>
                </a:solidFill>
                <a:effectLst/>
                <a:highlight>
                  <a:srgbClr val="FFFFFF"/>
                </a:highlight>
                <a:latin typeface="Times New Roman" panose="02020603050405020304" pitchFamily="18" charset="0"/>
                <a:ea typeface="Calibri" panose="020F0502020204030204" pitchFamily="34" charset="0"/>
              </a:rPr>
              <a:t>Complexity</a:t>
            </a:r>
            <a:r>
              <a:rPr lang="en-IN" sz="1800" kern="100" dirty="0">
                <a:solidFill>
                  <a:srgbClr val="222222"/>
                </a:solidFill>
                <a:effectLst/>
                <a:highlight>
                  <a:srgbClr val="FFFFFF"/>
                </a:highlight>
                <a:latin typeface="Times New Roman" panose="02020603050405020304" pitchFamily="18" charset="0"/>
                <a:ea typeface="Calibri" panose="020F0502020204030204" pitchFamily="34" charset="0"/>
              </a:rPr>
              <a:t>, </a:t>
            </a:r>
            <a:r>
              <a:rPr lang="en-IN" sz="1800" i="1" kern="100" dirty="0">
                <a:solidFill>
                  <a:srgbClr val="222222"/>
                </a:solidFill>
                <a:effectLst/>
                <a:highlight>
                  <a:srgbClr val="FFFFFF"/>
                </a:highlight>
                <a:latin typeface="Times New Roman" panose="02020603050405020304" pitchFamily="18" charset="0"/>
                <a:ea typeface="Calibri" panose="020F0502020204030204" pitchFamily="34" charset="0"/>
              </a:rPr>
              <a:t>2021</a:t>
            </a:r>
            <a:r>
              <a:rPr lang="en-IN" sz="1800" kern="100" dirty="0">
                <a:solidFill>
                  <a:srgbClr val="222222"/>
                </a:solidFill>
                <a:effectLst/>
                <a:highlight>
                  <a:srgbClr val="FFFFFF"/>
                </a:highlight>
                <a:latin typeface="Times New Roman" panose="02020603050405020304" pitchFamily="18" charset="0"/>
                <a:ea typeface="Calibri" panose="020F0502020204030204" pitchFamily="34" charset="0"/>
              </a:rPr>
              <a:t>, pp.1-32.</a:t>
            </a:r>
            <a:endParaRPr lang="en-IN" sz="18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startAt="17"/>
            </a:pPr>
            <a:r>
              <a:rPr lang="en-IN" sz="1800" kern="100" dirty="0" err="1">
                <a:effectLst/>
                <a:latin typeface="Times New Roman" panose="02020603050405020304" pitchFamily="18" charset="0"/>
                <a:ea typeface="Calibri" panose="020F0502020204030204" pitchFamily="34" charset="0"/>
              </a:rPr>
              <a:t>Maltoni</a:t>
            </a:r>
            <a:r>
              <a:rPr lang="en-IN" sz="1800" kern="100" dirty="0">
                <a:effectLst/>
                <a:latin typeface="Times New Roman" panose="02020603050405020304" pitchFamily="18" charset="0"/>
                <a:ea typeface="Calibri" panose="020F0502020204030204" pitchFamily="34" charset="0"/>
              </a:rPr>
              <a:t>, D., Maio, D., Jain, A.K. and Prabhakar, S., 2009. Handbook of fingerprint recognition (Vol. 2). London: springer.</a:t>
            </a:r>
            <a:endParaRPr lang="en-IN" sz="1800" dirty="0">
              <a:effectLst/>
              <a:latin typeface="Times New Roman" panose="02020603050405020304" pitchFamily="18" charset="0"/>
              <a:ea typeface="PMingLiU" panose="02020500000000000000" pitchFamily="18" charset="-120"/>
            </a:endParaRPr>
          </a:p>
          <a:p>
            <a:pPr marL="342900" lvl="0" indent="-342900" algn="just">
              <a:lnSpc>
                <a:spcPct val="107000"/>
              </a:lnSpc>
              <a:buFont typeface="+mj-lt"/>
              <a:buAutoNum type="romanUcPeriod" startAt="17"/>
            </a:pPr>
            <a:r>
              <a:rPr lang="en-IN" sz="1800" dirty="0">
                <a:solidFill>
                  <a:srgbClr val="374151"/>
                </a:solidFill>
                <a:effectLst/>
                <a:latin typeface="Times New Roman" panose="02020603050405020304" pitchFamily="18" charset="0"/>
                <a:ea typeface="Times New Roman" panose="02020603050405020304" pitchFamily="18" charset="0"/>
              </a:rPr>
              <a:t>Mishra, S., et al. (2023). Paradigm shift in wireless communication: The case of 6G technology. Journal of Communications, 18(1), 1-15.</a:t>
            </a:r>
            <a:endParaRPr lang="en-IN" sz="1800" dirty="0">
              <a:solidFill>
                <a:srgbClr val="374151"/>
              </a:solidFill>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2474210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5"/>
          <p:cNvSpPr txBox="1">
            <a:spLocks noGrp="1"/>
          </p:cNvSpPr>
          <p:nvPr>
            <p:ph type="body" idx="1"/>
          </p:nvPr>
        </p:nvSpPr>
        <p:spPr>
          <a:xfrm>
            <a:off x="1981200" y="2057401"/>
            <a:ext cx="8229600" cy="229688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0070C0"/>
              </a:buClr>
              <a:buSzPts val="13800"/>
              <a:buNone/>
            </a:pPr>
            <a:r>
              <a:rPr lang="en-US" sz="13800" b="1">
                <a:solidFill>
                  <a:srgbClr val="0070C0"/>
                </a:solidFill>
              </a:rPr>
              <a:t>Thanks</a:t>
            </a:r>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3169</Words>
  <Application>Microsoft Office PowerPoint</Application>
  <PresentationFormat>Widescreen</PresentationFormat>
  <Paragraphs>134</Paragraphs>
  <Slides>12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Calibri</vt:lpstr>
      <vt:lpstr>Arial</vt:lpstr>
      <vt:lpstr>PMingLiU</vt:lpstr>
      <vt:lpstr>Times New Roman</vt:lpstr>
      <vt:lpstr>1_Office Theme</vt:lpstr>
      <vt:lpstr>PowerPoint Presentation</vt:lpstr>
      <vt:lpstr>PowerPoint Presentation</vt:lpstr>
      <vt:lpstr>Introduction</vt:lpstr>
      <vt:lpstr>PowerPoint Presentation</vt:lpstr>
      <vt:lpstr>PowerPoint Presentation</vt:lpstr>
      <vt:lpstr>PowerPoint Presentation</vt:lpstr>
      <vt:lpstr>PowerPoint Presentation</vt:lpstr>
      <vt:lpstr>SOLUTION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Prince Kumar</dc:creator>
  <cp:lastModifiedBy>S S. Mittal</cp:lastModifiedBy>
  <cp:revision>8</cp:revision>
  <dcterms:created xsi:type="dcterms:W3CDTF">2020-11-08T02:15:49Z</dcterms:created>
  <dcterms:modified xsi:type="dcterms:W3CDTF">2024-04-20T05:56:07Z</dcterms:modified>
</cp:coreProperties>
</file>